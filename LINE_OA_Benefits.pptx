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C755"/>
        </a:solidFill>
        <a:effectLst/>
      </p:bgPr>
    </p:bg>
    <p:spTree>
      <p:nvGrpSpPr>
        <p:cNvPr id="1" name=""/>
        <p:cNvGrpSpPr/>
        <p:nvPr/>
      </p:nvGrpSpPr>
      <p:grpSpPr/>
      <p:sp>
        <p:nvSpPr>
          <p:cNvPr id="2" name="Rectangle 1"/>
          <p:cNvSpPr/>
          <p:nvPr/>
        </p:nvSpPr>
        <p:spPr>
          <a:xfrm>
            <a:off x="0" y="5303520"/>
            <a:ext cx="12188952" cy="1554480"/>
          </a:xfrm>
          <a:prstGeom prst="rect">
            <a:avLst/>
          </a:prstGeom>
          <a:solidFill>
            <a:srgbClr val="00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184648" y="548640"/>
            <a:ext cx="182880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84648" y="777240"/>
            <a:ext cx="1828800" cy="1097280"/>
          </a:xfrm>
          <a:prstGeom prst="rect">
            <a:avLst/>
          </a:prstGeom>
          <a:noFill/>
        </p:spPr>
        <p:txBody>
          <a:bodyPr wrap="square">
            <a:spAutoFit/>
          </a:bodyPr>
          <a:lstStyle/>
          <a:p>
            <a:pPr algn="ctr"/>
            <a:r>
              <a:rPr sz="5200" b="1">
                <a:solidFill>
                  <a:srgbClr val="06C755"/>
                </a:solidFill>
              </a:rPr>
              <a:t>LINE</a:t>
            </a:r>
          </a:p>
        </p:txBody>
      </p:sp>
      <p:sp>
        <p:nvSpPr>
          <p:cNvPr id="5" name="TextBox 4"/>
          <p:cNvSpPr txBox="1"/>
          <p:nvPr/>
        </p:nvSpPr>
        <p:spPr>
          <a:xfrm>
            <a:off x="1371600" y="2651760"/>
            <a:ext cx="9445752" cy="914400"/>
          </a:xfrm>
          <a:prstGeom prst="rect">
            <a:avLst/>
          </a:prstGeom>
          <a:noFill/>
        </p:spPr>
        <p:txBody>
          <a:bodyPr wrap="square">
            <a:spAutoFit/>
          </a:bodyPr>
          <a:lstStyle/>
          <a:p>
            <a:pPr algn="ctr"/>
            <a:r>
              <a:rPr sz="4000" b="1">
                <a:solidFill>
                  <a:srgbClr val="FFFFFF"/>
                </a:solidFill>
              </a:rPr>
              <a:t>LINE Official Account</a:t>
            </a:r>
          </a:p>
        </p:txBody>
      </p:sp>
      <p:sp>
        <p:nvSpPr>
          <p:cNvPr id="6" name="TextBox 5"/>
          <p:cNvSpPr txBox="1"/>
          <p:nvPr/>
        </p:nvSpPr>
        <p:spPr>
          <a:xfrm>
            <a:off x="1371600" y="3429000"/>
            <a:ext cx="9445752" cy="731520"/>
          </a:xfrm>
          <a:prstGeom prst="rect">
            <a:avLst/>
          </a:prstGeom>
          <a:noFill/>
        </p:spPr>
        <p:txBody>
          <a:bodyPr wrap="square">
            <a:spAutoFit/>
          </a:bodyPr>
          <a:lstStyle/>
          <a:p>
            <a:pPr algn="ctr"/>
            <a:r>
              <a:rPr sz="3600" b="1">
                <a:solidFill>
                  <a:srgbClr val="FFFFFF"/>
                </a:solidFill>
              </a:rPr>
              <a:t>(LINE OA) Benefits</a:t>
            </a:r>
          </a:p>
        </p:txBody>
      </p:sp>
      <p:sp>
        <p:nvSpPr>
          <p:cNvPr id="7" name="TextBox 6"/>
          <p:cNvSpPr txBox="1"/>
          <p:nvPr/>
        </p:nvSpPr>
        <p:spPr>
          <a:xfrm>
            <a:off x="1371600" y="4297680"/>
            <a:ext cx="9445752" cy="548640"/>
          </a:xfrm>
          <a:prstGeom prst="rect">
            <a:avLst/>
          </a:prstGeom>
          <a:noFill/>
        </p:spPr>
        <p:txBody>
          <a:bodyPr wrap="square">
            <a:spAutoFit/>
          </a:bodyPr>
          <a:lstStyle/>
          <a:p>
            <a:pPr algn="ctr"/>
            <a:r>
              <a:rPr sz="1600" b="0">
                <a:solidFill>
                  <a:srgbClr val="FFFFFF"/>
                </a:solidFill>
              </a:rPr>
              <a:t>Unlock the Power of Business Communication on LINE</a:t>
            </a:r>
          </a:p>
        </p:txBody>
      </p:sp>
      <p:sp>
        <p:nvSpPr>
          <p:cNvPr id="8" name="TextBox 7"/>
          <p:cNvSpPr txBox="1"/>
          <p:nvPr/>
        </p:nvSpPr>
        <p:spPr>
          <a:xfrm>
            <a:off x="457200" y="5577840"/>
            <a:ext cx="11274552" cy="457200"/>
          </a:xfrm>
          <a:prstGeom prst="rect">
            <a:avLst/>
          </a:prstGeom>
          <a:noFill/>
        </p:spPr>
        <p:txBody>
          <a:bodyPr wrap="square">
            <a:spAutoFit/>
          </a:bodyPr>
          <a:lstStyle/>
          <a:p>
            <a:pPr algn="ctr"/>
            <a:r>
              <a:rPr sz="1200" b="0">
                <a:solidFill>
                  <a:srgbClr val="FFFFFF"/>
                </a:solidFill>
              </a:rPr>
              <a:t>WhiteWings  |  LINE OA Solutions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914400"/>
          </a:xfrm>
          <a:prstGeom prst="rect">
            <a:avLst/>
          </a:prstGeom>
          <a:noFill/>
        </p:spPr>
        <p:txBody>
          <a:bodyPr wrap="square">
            <a:spAutoFit/>
          </a:bodyPr>
          <a:lstStyle/>
          <a:p>
            <a:pPr algn="l"/>
            <a:r>
              <a:rPr sz="2800" b="1">
                <a:solidFill>
                  <a:srgbClr val="FFFFFF"/>
                </a:solidFill>
              </a:rPr>
              <a:t>What is LINE Official Account?</a:t>
            </a:r>
          </a:p>
        </p:txBody>
      </p:sp>
      <p:sp>
        <p:nvSpPr>
          <p:cNvPr id="4" name="TextBox 3"/>
          <p:cNvSpPr txBox="1"/>
          <p:nvPr/>
        </p:nvSpPr>
        <p:spPr>
          <a:xfrm>
            <a:off x="548640" y="1371600"/>
            <a:ext cx="11064240" cy="1371600"/>
          </a:xfrm>
          <a:prstGeom prst="rect">
            <a:avLst/>
          </a:prstGeom>
          <a:noFill/>
        </p:spPr>
        <p:txBody>
          <a:bodyPr wrap="square">
            <a:spAutoFit/>
          </a:bodyPr>
          <a:lstStyle/>
          <a:p>
            <a:pPr algn="l"/>
            <a:r>
              <a:rPr sz="1400" b="0">
                <a:solidFill>
                  <a:srgbClr val="333333"/>
                </a:solidFill>
              </a:rPr>
              <a:t>LINE Official Account (LINE OA) is a business account on the LINE messaging platform that enables companies, brands, and organizations to communicate directly with their customers at scale. With over 90 million active users in Thailand alone, LINE OA provides an unparalleled channel to reach, engage, and convert your audience.</a:t>
            </a:r>
          </a:p>
        </p:txBody>
      </p:sp>
      <p:sp>
        <p:nvSpPr>
          <p:cNvPr id="5" name="Rectangle 4"/>
          <p:cNvSpPr/>
          <p:nvPr/>
        </p:nvSpPr>
        <p:spPr>
          <a:xfrm>
            <a:off x="457200" y="2926080"/>
            <a:ext cx="2560320" cy="164592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017520"/>
            <a:ext cx="2560320" cy="731520"/>
          </a:xfrm>
          <a:prstGeom prst="rect">
            <a:avLst/>
          </a:prstGeom>
          <a:noFill/>
        </p:spPr>
        <p:txBody>
          <a:bodyPr wrap="square">
            <a:spAutoFit/>
          </a:bodyPr>
          <a:lstStyle/>
          <a:p>
            <a:pPr algn="ctr"/>
            <a:r>
              <a:rPr sz="2600" b="1">
                <a:solidFill>
                  <a:srgbClr val="FFFFFF"/>
                </a:solidFill>
              </a:rPr>
              <a:t>200M+</a:t>
            </a:r>
          </a:p>
        </p:txBody>
      </p:sp>
      <p:sp>
        <p:nvSpPr>
          <p:cNvPr id="7" name="TextBox 6"/>
          <p:cNvSpPr txBox="1"/>
          <p:nvPr/>
        </p:nvSpPr>
        <p:spPr>
          <a:xfrm>
            <a:off x="457200" y="3657600"/>
            <a:ext cx="2560320" cy="822960"/>
          </a:xfrm>
          <a:prstGeom prst="rect">
            <a:avLst/>
          </a:prstGeom>
          <a:noFill/>
        </p:spPr>
        <p:txBody>
          <a:bodyPr wrap="square">
            <a:spAutoFit/>
          </a:bodyPr>
          <a:lstStyle/>
          <a:p>
            <a:pPr algn="ctr"/>
            <a:r>
              <a:rPr sz="1200" b="0">
                <a:solidFill>
                  <a:srgbClr val="FFFFFF"/>
                </a:solidFill>
              </a:rPr>
              <a:t>Monthly Active
Users (Global)</a:t>
            </a:r>
          </a:p>
        </p:txBody>
      </p:sp>
      <p:sp>
        <p:nvSpPr>
          <p:cNvPr id="8" name="Rectangle 7"/>
          <p:cNvSpPr/>
          <p:nvPr/>
        </p:nvSpPr>
        <p:spPr>
          <a:xfrm>
            <a:off x="3291840" y="2926080"/>
            <a:ext cx="2560320" cy="164592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91840" y="3017520"/>
            <a:ext cx="2560320" cy="731520"/>
          </a:xfrm>
          <a:prstGeom prst="rect">
            <a:avLst/>
          </a:prstGeom>
          <a:noFill/>
        </p:spPr>
        <p:txBody>
          <a:bodyPr wrap="square">
            <a:spAutoFit/>
          </a:bodyPr>
          <a:lstStyle/>
          <a:p>
            <a:pPr algn="ctr"/>
            <a:r>
              <a:rPr sz="2600" b="1">
                <a:solidFill>
                  <a:srgbClr val="FFFFFF"/>
                </a:solidFill>
              </a:rPr>
              <a:t>90M+</a:t>
            </a:r>
          </a:p>
        </p:txBody>
      </p:sp>
      <p:sp>
        <p:nvSpPr>
          <p:cNvPr id="10" name="TextBox 9"/>
          <p:cNvSpPr txBox="1"/>
          <p:nvPr/>
        </p:nvSpPr>
        <p:spPr>
          <a:xfrm>
            <a:off x="3291840" y="3657600"/>
            <a:ext cx="2560320" cy="822960"/>
          </a:xfrm>
          <a:prstGeom prst="rect">
            <a:avLst/>
          </a:prstGeom>
          <a:noFill/>
        </p:spPr>
        <p:txBody>
          <a:bodyPr wrap="square">
            <a:spAutoFit/>
          </a:bodyPr>
          <a:lstStyle/>
          <a:p>
            <a:pPr algn="ctr"/>
            <a:r>
              <a:rPr sz="1200" b="0">
                <a:solidFill>
                  <a:srgbClr val="FFFFFF"/>
                </a:solidFill>
              </a:rPr>
              <a:t>Users in
Thailand</a:t>
            </a:r>
          </a:p>
        </p:txBody>
      </p:sp>
      <p:sp>
        <p:nvSpPr>
          <p:cNvPr id="11" name="Rectangle 10"/>
          <p:cNvSpPr/>
          <p:nvPr/>
        </p:nvSpPr>
        <p:spPr>
          <a:xfrm>
            <a:off x="6126480" y="2926080"/>
            <a:ext cx="2560320" cy="164592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0" y="3017520"/>
            <a:ext cx="2560320" cy="731520"/>
          </a:xfrm>
          <a:prstGeom prst="rect">
            <a:avLst/>
          </a:prstGeom>
          <a:noFill/>
        </p:spPr>
        <p:txBody>
          <a:bodyPr wrap="square">
            <a:spAutoFit/>
          </a:bodyPr>
          <a:lstStyle/>
          <a:p>
            <a:pPr algn="ctr"/>
            <a:r>
              <a:rPr sz="2600" b="1">
                <a:solidFill>
                  <a:srgbClr val="FFFFFF"/>
                </a:solidFill>
              </a:rPr>
              <a:t>#1</a:t>
            </a:r>
          </a:p>
        </p:txBody>
      </p:sp>
      <p:sp>
        <p:nvSpPr>
          <p:cNvPr id="13" name="TextBox 12"/>
          <p:cNvSpPr txBox="1"/>
          <p:nvPr/>
        </p:nvSpPr>
        <p:spPr>
          <a:xfrm>
            <a:off x="6126480" y="3657600"/>
            <a:ext cx="2560320" cy="822960"/>
          </a:xfrm>
          <a:prstGeom prst="rect">
            <a:avLst/>
          </a:prstGeom>
          <a:noFill/>
        </p:spPr>
        <p:txBody>
          <a:bodyPr wrap="square">
            <a:spAutoFit/>
          </a:bodyPr>
          <a:lstStyle/>
          <a:p>
            <a:pPr algn="ctr"/>
            <a:r>
              <a:rPr sz="1200" b="0">
                <a:solidFill>
                  <a:srgbClr val="FFFFFF"/>
                </a:solidFill>
              </a:rPr>
              <a:t>Messaging App
in Thailand</a:t>
            </a:r>
          </a:p>
        </p:txBody>
      </p:sp>
      <p:sp>
        <p:nvSpPr>
          <p:cNvPr id="14" name="Rectangle 13"/>
          <p:cNvSpPr/>
          <p:nvPr/>
        </p:nvSpPr>
        <p:spPr>
          <a:xfrm>
            <a:off x="8961120" y="2926080"/>
            <a:ext cx="2560320" cy="164592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0" y="3017520"/>
            <a:ext cx="2560320" cy="731520"/>
          </a:xfrm>
          <a:prstGeom prst="rect">
            <a:avLst/>
          </a:prstGeom>
          <a:noFill/>
        </p:spPr>
        <p:txBody>
          <a:bodyPr wrap="square">
            <a:spAutoFit/>
          </a:bodyPr>
          <a:lstStyle/>
          <a:p>
            <a:pPr algn="ctr"/>
            <a:r>
              <a:rPr sz="2600" b="1">
                <a:solidFill>
                  <a:srgbClr val="FFFFFF"/>
                </a:solidFill>
              </a:rPr>
              <a:t>94%</a:t>
            </a:r>
          </a:p>
        </p:txBody>
      </p:sp>
      <p:sp>
        <p:nvSpPr>
          <p:cNvPr id="16" name="TextBox 15"/>
          <p:cNvSpPr txBox="1"/>
          <p:nvPr/>
        </p:nvSpPr>
        <p:spPr>
          <a:xfrm>
            <a:off x="8961120" y="3657600"/>
            <a:ext cx="2560320" cy="822960"/>
          </a:xfrm>
          <a:prstGeom prst="rect">
            <a:avLst/>
          </a:prstGeom>
          <a:noFill/>
        </p:spPr>
        <p:txBody>
          <a:bodyPr wrap="square">
            <a:spAutoFit/>
          </a:bodyPr>
          <a:lstStyle/>
          <a:p>
            <a:pPr algn="ctr"/>
            <a:r>
              <a:rPr sz="1200" b="0">
                <a:solidFill>
                  <a:srgbClr val="FFFFFF"/>
                </a:solidFill>
              </a:rPr>
              <a:t>Market
Penetration</a:t>
            </a:r>
          </a:p>
        </p:txBody>
      </p:sp>
      <p:sp>
        <p:nvSpPr>
          <p:cNvPr id="17" name="TextBox 16"/>
          <p:cNvSpPr txBox="1"/>
          <p:nvPr/>
        </p:nvSpPr>
        <p:spPr>
          <a:xfrm>
            <a:off x="548640" y="4846320"/>
            <a:ext cx="10972800" cy="365760"/>
          </a:xfrm>
          <a:prstGeom prst="rect">
            <a:avLst/>
          </a:prstGeom>
          <a:noFill/>
        </p:spPr>
        <p:txBody>
          <a:bodyPr wrap="square">
            <a:spAutoFit/>
          </a:bodyPr>
          <a:lstStyle/>
          <a:p>
            <a:pPr algn="l"/>
            <a:r>
              <a:rPr sz="1000" b="0">
                <a:solidFill>
                  <a:srgbClr val="888888"/>
                </a:solidFill>
              </a:rPr>
              <a:t>Source: LINE Corporation, 2024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914400"/>
          </a:xfrm>
          <a:prstGeom prst="rect">
            <a:avLst/>
          </a:prstGeom>
          <a:noFill/>
        </p:spPr>
        <p:txBody>
          <a:bodyPr wrap="square">
            <a:spAutoFit/>
          </a:bodyPr>
          <a:lstStyle/>
          <a:p>
            <a:pPr algn="l"/>
            <a:r>
              <a:rPr sz="2800" b="1">
                <a:solidFill>
                  <a:srgbClr val="FFFFFF"/>
                </a:solidFill>
              </a:rPr>
              <a:t>★  Core Benefits of LINE OA</a:t>
            </a:r>
          </a:p>
        </p:txBody>
      </p:sp>
      <p:sp>
        <p:nvSpPr>
          <p:cNvPr id="4" name="Rectangle 3"/>
          <p:cNvSpPr/>
          <p:nvPr/>
        </p:nvSpPr>
        <p:spPr>
          <a:xfrm>
            <a:off x="365760" y="1417320"/>
            <a:ext cx="411480" cy="41148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89888"/>
            <a:ext cx="411480" cy="411480"/>
          </a:xfrm>
          <a:prstGeom prst="rect">
            <a:avLst/>
          </a:prstGeom>
          <a:noFill/>
        </p:spPr>
        <p:txBody>
          <a:bodyPr wrap="square">
            <a:spAutoFit/>
          </a:bodyPr>
          <a:lstStyle/>
          <a:p>
            <a:pPr algn="ctr"/>
            <a:r>
              <a:rPr sz="1300" b="1">
                <a:solidFill>
                  <a:srgbClr val="FFFFFF"/>
                </a:solidFill>
              </a:rPr>
              <a:t>1</a:t>
            </a:r>
          </a:p>
        </p:txBody>
      </p:sp>
      <p:sp>
        <p:nvSpPr>
          <p:cNvPr id="6" name="TextBox 5"/>
          <p:cNvSpPr txBox="1"/>
          <p:nvPr/>
        </p:nvSpPr>
        <p:spPr>
          <a:xfrm>
            <a:off x="960120" y="1389888"/>
            <a:ext cx="10789920" cy="365760"/>
          </a:xfrm>
          <a:prstGeom prst="rect">
            <a:avLst/>
          </a:prstGeom>
          <a:noFill/>
        </p:spPr>
        <p:txBody>
          <a:bodyPr wrap="square">
            <a:spAutoFit/>
          </a:bodyPr>
          <a:lstStyle/>
          <a:p>
            <a:pPr algn="l"/>
            <a:r>
              <a:rPr sz="1400" b="1">
                <a:solidFill>
                  <a:srgbClr val="06C755"/>
                </a:solidFill>
              </a:rPr>
              <a:t>Direct Messaging to Customers</a:t>
            </a:r>
          </a:p>
        </p:txBody>
      </p:sp>
      <p:sp>
        <p:nvSpPr>
          <p:cNvPr id="7" name="TextBox 6"/>
          <p:cNvSpPr txBox="1"/>
          <p:nvPr/>
        </p:nvSpPr>
        <p:spPr>
          <a:xfrm>
            <a:off x="960120" y="1700784"/>
            <a:ext cx="10789920" cy="411480"/>
          </a:xfrm>
          <a:prstGeom prst="rect">
            <a:avLst/>
          </a:prstGeom>
          <a:noFill/>
        </p:spPr>
        <p:txBody>
          <a:bodyPr wrap="square">
            <a:spAutoFit/>
          </a:bodyPr>
          <a:lstStyle/>
          <a:p>
            <a:pPr algn="l"/>
            <a:r>
              <a:rPr sz="1100" b="0">
                <a:solidFill>
                  <a:srgbClr val="333333"/>
                </a:solidFill>
              </a:rPr>
              <a:t>Send personalized messages, promotions, and updates directly to followers' chat inbox — ensuring high open rates.</a:t>
            </a:r>
          </a:p>
        </p:txBody>
      </p:sp>
      <p:sp>
        <p:nvSpPr>
          <p:cNvPr id="8" name="Rectangle 7"/>
          <p:cNvSpPr/>
          <p:nvPr/>
        </p:nvSpPr>
        <p:spPr>
          <a:xfrm>
            <a:off x="365760" y="2194560"/>
            <a:ext cx="411480" cy="41148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167127"/>
            <a:ext cx="411480" cy="411480"/>
          </a:xfrm>
          <a:prstGeom prst="rect">
            <a:avLst/>
          </a:prstGeom>
          <a:noFill/>
        </p:spPr>
        <p:txBody>
          <a:bodyPr wrap="square">
            <a:spAutoFit/>
          </a:bodyPr>
          <a:lstStyle/>
          <a:p>
            <a:pPr algn="ctr"/>
            <a:r>
              <a:rPr sz="1300" b="1">
                <a:solidFill>
                  <a:srgbClr val="FFFFFF"/>
                </a:solidFill>
              </a:rPr>
              <a:t>2</a:t>
            </a:r>
          </a:p>
        </p:txBody>
      </p:sp>
      <p:sp>
        <p:nvSpPr>
          <p:cNvPr id="10" name="TextBox 9"/>
          <p:cNvSpPr txBox="1"/>
          <p:nvPr/>
        </p:nvSpPr>
        <p:spPr>
          <a:xfrm>
            <a:off x="960120" y="2167127"/>
            <a:ext cx="10789920" cy="365760"/>
          </a:xfrm>
          <a:prstGeom prst="rect">
            <a:avLst/>
          </a:prstGeom>
          <a:noFill/>
        </p:spPr>
        <p:txBody>
          <a:bodyPr wrap="square">
            <a:spAutoFit/>
          </a:bodyPr>
          <a:lstStyle/>
          <a:p>
            <a:pPr algn="l"/>
            <a:r>
              <a:rPr sz="1400" b="1">
                <a:solidFill>
                  <a:srgbClr val="06C755"/>
                </a:solidFill>
              </a:rPr>
              <a:t>Broadcast &amp; Segmented Messaging</a:t>
            </a:r>
          </a:p>
        </p:txBody>
      </p:sp>
      <p:sp>
        <p:nvSpPr>
          <p:cNvPr id="11" name="TextBox 10"/>
          <p:cNvSpPr txBox="1"/>
          <p:nvPr/>
        </p:nvSpPr>
        <p:spPr>
          <a:xfrm>
            <a:off x="960120" y="2478023"/>
            <a:ext cx="10789920" cy="411480"/>
          </a:xfrm>
          <a:prstGeom prst="rect">
            <a:avLst/>
          </a:prstGeom>
          <a:noFill/>
        </p:spPr>
        <p:txBody>
          <a:bodyPr wrap="square">
            <a:spAutoFit/>
          </a:bodyPr>
          <a:lstStyle/>
          <a:p>
            <a:pPr algn="l"/>
            <a:r>
              <a:rPr sz="1100" b="0">
                <a:solidFill>
                  <a:srgbClr val="333333"/>
                </a:solidFill>
              </a:rPr>
              <a:t>Reach all followers at once or target specific audience segments based on demographics, behavior, or tags.</a:t>
            </a:r>
          </a:p>
        </p:txBody>
      </p:sp>
      <p:sp>
        <p:nvSpPr>
          <p:cNvPr id="12" name="Rectangle 11"/>
          <p:cNvSpPr/>
          <p:nvPr/>
        </p:nvSpPr>
        <p:spPr>
          <a:xfrm>
            <a:off x="365760" y="2971799"/>
            <a:ext cx="411480" cy="41148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944367"/>
            <a:ext cx="411480" cy="411480"/>
          </a:xfrm>
          <a:prstGeom prst="rect">
            <a:avLst/>
          </a:prstGeom>
          <a:noFill/>
        </p:spPr>
        <p:txBody>
          <a:bodyPr wrap="square">
            <a:spAutoFit/>
          </a:bodyPr>
          <a:lstStyle/>
          <a:p>
            <a:pPr algn="ctr"/>
            <a:r>
              <a:rPr sz="1300" b="1">
                <a:solidFill>
                  <a:srgbClr val="FFFFFF"/>
                </a:solidFill>
              </a:rPr>
              <a:t>3</a:t>
            </a:r>
          </a:p>
        </p:txBody>
      </p:sp>
      <p:sp>
        <p:nvSpPr>
          <p:cNvPr id="14" name="TextBox 13"/>
          <p:cNvSpPr txBox="1"/>
          <p:nvPr/>
        </p:nvSpPr>
        <p:spPr>
          <a:xfrm>
            <a:off x="960120" y="2944367"/>
            <a:ext cx="10789920" cy="365760"/>
          </a:xfrm>
          <a:prstGeom prst="rect">
            <a:avLst/>
          </a:prstGeom>
          <a:noFill/>
        </p:spPr>
        <p:txBody>
          <a:bodyPr wrap="square">
            <a:spAutoFit/>
          </a:bodyPr>
          <a:lstStyle/>
          <a:p>
            <a:pPr algn="l"/>
            <a:r>
              <a:rPr sz="1400" b="1">
                <a:solidFill>
                  <a:srgbClr val="06C755"/>
                </a:solidFill>
              </a:rPr>
              <a:t>Rich Menu &amp; Custom UI</a:t>
            </a:r>
          </a:p>
        </p:txBody>
      </p:sp>
      <p:sp>
        <p:nvSpPr>
          <p:cNvPr id="15" name="TextBox 14"/>
          <p:cNvSpPr txBox="1"/>
          <p:nvPr/>
        </p:nvSpPr>
        <p:spPr>
          <a:xfrm>
            <a:off x="960120" y="3255263"/>
            <a:ext cx="10789920" cy="411480"/>
          </a:xfrm>
          <a:prstGeom prst="rect">
            <a:avLst/>
          </a:prstGeom>
          <a:noFill/>
        </p:spPr>
        <p:txBody>
          <a:bodyPr wrap="square">
            <a:spAutoFit/>
          </a:bodyPr>
          <a:lstStyle/>
          <a:p>
            <a:pPr algn="l"/>
            <a:r>
              <a:rPr sz="1100" b="0">
                <a:solidFill>
                  <a:srgbClr val="333333"/>
                </a:solidFill>
              </a:rPr>
              <a:t>Design interactive menus at the bottom of chats to guide users to key features, websites, or services instantly.</a:t>
            </a:r>
          </a:p>
        </p:txBody>
      </p:sp>
      <p:sp>
        <p:nvSpPr>
          <p:cNvPr id="16" name="Rectangle 15"/>
          <p:cNvSpPr/>
          <p:nvPr/>
        </p:nvSpPr>
        <p:spPr>
          <a:xfrm>
            <a:off x="365760" y="3749039"/>
            <a:ext cx="411480" cy="41148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721607"/>
            <a:ext cx="411480" cy="411480"/>
          </a:xfrm>
          <a:prstGeom prst="rect">
            <a:avLst/>
          </a:prstGeom>
          <a:noFill/>
        </p:spPr>
        <p:txBody>
          <a:bodyPr wrap="square">
            <a:spAutoFit/>
          </a:bodyPr>
          <a:lstStyle/>
          <a:p>
            <a:pPr algn="ctr"/>
            <a:r>
              <a:rPr sz="1300" b="1">
                <a:solidFill>
                  <a:srgbClr val="FFFFFF"/>
                </a:solidFill>
              </a:rPr>
              <a:t>4</a:t>
            </a:r>
          </a:p>
        </p:txBody>
      </p:sp>
      <p:sp>
        <p:nvSpPr>
          <p:cNvPr id="18" name="TextBox 17"/>
          <p:cNvSpPr txBox="1"/>
          <p:nvPr/>
        </p:nvSpPr>
        <p:spPr>
          <a:xfrm>
            <a:off x="960120" y="3721607"/>
            <a:ext cx="10789920" cy="365760"/>
          </a:xfrm>
          <a:prstGeom prst="rect">
            <a:avLst/>
          </a:prstGeom>
          <a:noFill/>
        </p:spPr>
        <p:txBody>
          <a:bodyPr wrap="square">
            <a:spAutoFit/>
          </a:bodyPr>
          <a:lstStyle/>
          <a:p>
            <a:pPr algn="l"/>
            <a:r>
              <a:rPr sz="1400" b="1">
                <a:solidFill>
                  <a:srgbClr val="06C755"/>
                </a:solidFill>
              </a:rPr>
              <a:t>Chatbot &amp; Auto-Reply Integration</a:t>
            </a:r>
          </a:p>
        </p:txBody>
      </p:sp>
      <p:sp>
        <p:nvSpPr>
          <p:cNvPr id="19" name="TextBox 18"/>
          <p:cNvSpPr txBox="1"/>
          <p:nvPr/>
        </p:nvSpPr>
        <p:spPr>
          <a:xfrm>
            <a:off x="960120" y="4032503"/>
            <a:ext cx="10789920" cy="411480"/>
          </a:xfrm>
          <a:prstGeom prst="rect">
            <a:avLst/>
          </a:prstGeom>
          <a:noFill/>
        </p:spPr>
        <p:txBody>
          <a:bodyPr wrap="square">
            <a:spAutoFit/>
          </a:bodyPr>
          <a:lstStyle/>
          <a:p>
            <a:pPr algn="l"/>
            <a:r>
              <a:rPr sz="1100" b="0">
                <a:solidFill>
                  <a:srgbClr val="333333"/>
                </a:solidFill>
              </a:rPr>
              <a:t>Automate responses with AI chatbots, FAQs, and triggered messages to provide 24/7 customer support.</a:t>
            </a:r>
          </a:p>
        </p:txBody>
      </p:sp>
      <p:sp>
        <p:nvSpPr>
          <p:cNvPr id="20" name="Rectangle 19"/>
          <p:cNvSpPr/>
          <p:nvPr/>
        </p:nvSpPr>
        <p:spPr>
          <a:xfrm>
            <a:off x="365760" y="4526279"/>
            <a:ext cx="411480" cy="41148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4498847"/>
            <a:ext cx="411480" cy="411480"/>
          </a:xfrm>
          <a:prstGeom prst="rect">
            <a:avLst/>
          </a:prstGeom>
          <a:noFill/>
        </p:spPr>
        <p:txBody>
          <a:bodyPr wrap="square">
            <a:spAutoFit/>
          </a:bodyPr>
          <a:lstStyle/>
          <a:p>
            <a:pPr algn="ctr"/>
            <a:r>
              <a:rPr sz="1300" b="1">
                <a:solidFill>
                  <a:srgbClr val="FFFFFF"/>
                </a:solidFill>
              </a:rPr>
              <a:t>5</a:t>
            </a:r>
          </a:p>
        </p:txBody>
      </p:sp>
      <p:sp>
        <p:nvSpPr>
          <p:cNvPr id="22" name="TextBox 21"/>
          <p:cNvSpPr txBox="1"/>
          <p:nvPr/>
        </p:nvSpPr>
        <p:spPr>
          <a:xfrm>
            <a:off x="960120" y="4498847"/>
            <a:ext cx="10789920" cy="365760"/>
          </a:xfrm>
          <a:prstGeom prst="rect">
            <a:avLst/>
          </a:prstGeom>
          <a:noFill/>
        </p:spPr>
        <p:txBody>
          <a:bodyPr wrap="square">
            <a:spAutoFit/>
          </a:bodyPr>
          <a:lstStyle/>
          <a:p>
            <a:pPr algn="l"/>
            <a:r>
              <a:rPr sz="1400" b="1">
                <a:solidFill>
                  <a:srgbClr val="06C755"/>
                </a:solidFill>
              </a:rPr>
              <a:t>Verified Badge &amp; Brand Trust</a:t>
            </a:r>
          </a:p>
        </p:txBody>
      </p:sp>
      <p:sp>
        <p:nvSpPr>
          <p:cNvPr id="23" name="TextBox 22"/>
          <p:cNvSpPr txBox="1"/>
          <p:nvPr/>
        </p:nvSpPr>
        <p:spPr>
          <a:xfrm>
            <a:off x="960120" y="4809743"/>
            <a:ext cx="10789920" cy="411480"/>
          </a:xfrm>
          <a:prstGeom prst="rect">
            <a:avLst/>
          </a:prstGeom>
          <a:noFill/>
        </p:spPr>
        <p:txBody>
          <a:bodyPr wrap="square">
            <a:spAutoFit/>
          </a:bodyPr>
          <a:lstStyle/>
          <a:p>
            <a:pPr algn="l"/>
            <a:r>
              <a:rPr sz="1100" b="0">
                <a:solidFill>
                  <a:srgbClr val="333333"/>
                </a:solidFill>
              </a:rPr>
              <a:t>Earn the official verified badge that builds brand credibility and distinguishes you from personal accounts.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914400"/>
          </a:xfrm>
          <a:prstGeom prst="rect">
            <a:avLst/>
          </a:prstGeom>
          <a:noFill/>
        </p:spPr>
        <p:txBody>
          <a:bodyPr wrap="square">
            <a:spAutoFit/>
          </a:bodyPr>
          <a:lstStyle/>
          <a:p>
            <a:pPr algn="l"/>
            <a:r>
              <a:rPr sz="2800" b="1">
                <a:solidFill>
                  <a:srgbClr val="FFFFFF"/>
                </a:solidFill>
              </a:rPr>
              <a:t>★  Marketing &amp; Sales Benefits</a:t>
            </a:r>
          </a:p>
        </p:txBody>
      </p:sp>
      <p:sp>
        <p:nvSpPr>
          <p:cNvPr id="4" name="Rectangle 3"/>
          <p:cNvSpPr/>
          <p:nvPr/>
        </p:nvSpPr>
        <p:spPr>
          <a:xfrm>
            <a:off x="365760" y="1417320"/>
            <a:ext cx="411480" cy="41148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89888"/>
            <a:ext cx="411480" cy="411480"/>
          </a:xfrm>
          <a:prstGeom prst="rect">
            <a:avLst/>
          </a:prstGeom>
          <a:noFill/>
        </p:spPr>
        <p:txBody>
          <a:bodyPr wrap="square">
            <a:spAutoFit/>
          </a:bodyPr>
          <a:lstStyle/>
          <a:p>
            <a:pPr algn="ctr"/>
            <a:r>
              <a:rPr sz="1300" b="1">
                <a:solidFill>
                  <a:srgbClr val="FFFFFF"/>
                </a:solidFill>
              </a:rPr>
              <a:t>1</a:t>
            </a:r>
          </a:p>
        </p:txBody>
      </p:sp>
      <p:sp>
        <p:nvSpPr>
          <p:cNvPr id="6" name="TextBox 5"/>
          <p:cNvSpPr txBox="1"/>
          <p:nvPr/>
        </p:nvSpPr>
        <p:spPr>
          <a:xfrm>
            <a:off x="960120" y="1389888"/>
            <a:ext cx="10789920" cy="365760"/>
          </a:xfrm>
          <a:prstGeom prst="rect">
            <a:avLst/>
          </a:prstGeom>
          <a:noFill/>
        </p:spPr>
        <p:txBody>
          <a:bodyPr wrap="square">
            <a:spAutoFit/>
          </a:bodyPr>
          <a:lstStyle/>
          <a:p>
            <a:pPr algn="l"/>
            <a:r>
              <a:rPr sz="1400" b="1">
                <a:solidFill>
                  <a:srgbClr val="06C755"/>
                </a:solidFill>
              </a:rPr>
              <a:t>Coupon &amp; Reward Distribution</a:t>
            </a:r>
          </a:p>
        </p:txBody>
      </p:sp>
      <p:sp>
        <p:nvSpPr>
          <p:cNvPr id="7" name="TextBox 6"/>
          <p:cNvSpPr txBox="1"/>
          <p:nvPr/>
        </p:nvSpPr>
        <p:spPr>
          <a:xfrm>
            <a:off x="960120" y="1700784"/>
            <a:ext cx="10789920" cy="411480"/>
          </a:xfrm>
          <a:prstGeom prst="rect">
            <a:avLst/>
          </a:prstGeom>
          <a:noFill/>
        </p:spPr>
        <p:txBody>
          <a:bodyPr wrap="square">
            <a:spAutoFit/>
          </a:bodyPr>
          <a:lstStyle/>
          <a:p>
            <a:pPr algn="l"/>
            <a:r>
              <a:rPr sz="1100" b="0">
                <a:solidFill>
                  <a:srgbClr val="333333"/>
                </a:solidFill>
              </a:rPr>
              <a:t>Issue digital coupons, stamp cards, and loyalty rewards directly through LINE to drive repeat purchases.</a:t>
            </a:r>
          </a:p>
        </p:txBody>
      </p:sp>
      <p:sp>
        <p:nvSpPr>
          <p:cNvPr id="8" name="Rectangle 7"/>
          <p:cNvSpPr/>
          <p:nvPr/>
        </p:nvSpPr>
        <p:spPr>
          <a:xfrm>
            <a:off x="365760" y="2194560"/>
            <a:ext cx="411480" cy="41148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167127"/>
            <a:ext cx="411480" cy="411480"/>
          </a:xfrm>
          <a:prstGeom prst="rect">
            <a:avLst/>
          </a:prstGeom>
          <a:noFill/>
        </p:spPr>
        <p:txBody>
          <a:bodyPr wrap="square">
            <a:spAutoFit/>
          </a:bodyPr>
          <a:lstStyle/>
          <a:p>
            <a:pPr algn="ctr"/>
            <a:r>
              <a:rPr sz="1300" b="1">
                <a:solidFill>
                  <a:srgbClr val="FFFFFF"/>
                </a:solidFill>
              </a:rPr>
              <a:t>2</a:t>
            </a:r>
          </a:p>
        </p:txBody>
      </p:sp>
      <p:sp>
        <p:nvSpPr>
          <p:cNvPr id="10" name="TextBox 9"/>
          <p:cNvSpPr txBox="1"/>
          <p:nvPr/>
        </p:nvSpPr>
        <p:spPr>
          <a:xfrm>
            <a:off x="960120" y="2167127"/>
            <a:ext cx="10789920" cy="365760"/>
          </a:xfrm>
          <a:prstGeom prst="rect">
            <a:avLst/>
          </a:prstGeom>
          <a:noFill/>
        </p:spPr>
        <p:txBody>
          <a:bodyPr wrap="square">
            <a:spAutoFit/>
          </a:bodyPr>
          <a:lstStyle/>
          <a:p>
            <a:pPr algn="l"/>
            <a:r>
              <a:rPr sz="1400" b="1">
                <a:solidFill>
                  <a:srgbClr val="06C755"/>
                </a:solidFill>
              </a:rPr>
              <a:t>LINE Points &amp; Incentives</a:t>
            </a:r>
          </a:p>
        </p:txBody>
      </p:sp>
      <p:sp>
        <p:nvSpPr>
          <p:cNvPr id="11" name="TextBox 10"/>
          <p:cNvSpPr txBox="1"/>
          <p:nvPr/>
        </p:nvSpPr>
        <p:spPr>
          <a:xfrm>
            <a:off x="960120" y="2478023"/>
            <a:ext cx="10789920" cy="411480"/>
          </a:xfrm>
          <a:prstGeom prst="rect">
            <a:avLst/>
          </a:prstGeom>
          <a:noFill/>
        </p:spPr>
        <p:txBody>
          <a:bodyPr wrap="square">
            <a:spAutoFit/>
          </a:bodyPr>
          <a:lstStyle/>
          <a:p>
            <a:pPr algn="l"/>
            <a:r>
              <a:rPr sz="1100" b="0">
                <a:solidFill>
                  <a:srgbClr val="333333"/>
                </a:solidFill>
              </a:rPr>
              <a:t>Reward customers with LINE Points to encourage engagement, referrals, and brand loyalty.</a:t>
            </a:r>
          </a:p>
        </p:txBody>
      </p:sp>
      <p:sp>
        <p:nvSpPr>
          <p:cNvPr id="12" name="Rectangle 11"/>
          <p:cNvSpPr/>
          <p:nvPr/>
        </p:nvSpPr>
        <p:spPr>
          <a:xfrm>
            <a:off x="365760" y="2971799"/>
            <a:ext cx="411480" cy="41148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944367"/>
            <a:ext cx="411480" cy="411480"/>
          </a:xfrm>
          <a:prstGeom prst="rect">
            <a:avLst/>
          </a:prstGeom>
          <a:noFill/>
        </p:spPr>
        <p:txBody>
          <a:bodyPr wrap="square">
            <a:spAutoFit/>
          </a:bodyPr>
          <a:lstStyle/>
          <a:p>
            <a:pPr algn="ctr"/>
            <a:r>
              <a:rPr sz="1300" b="1">
                <a:solidFill>
                  <a:srgbClr val="FFFFFF"/>
                </a:solidFill>
              </a:rPr>
              <a:t>3</a:t>
            </a:r>
          </a:p>
        </p:txBody>
      </p:sp>
      <p:sp>
        <p:nvSpPr>
          <p:cNvPr id="14" name="TextBox 13"/>
          <p:cNvSpPr txBox="1"/>
          <p:nvPr/>
        </p:nvSpPr>
        <p:spPr>
          <a:xfrm>
            <a:off x="960120" y="2944367"/>
            <a:ext cx="10789920" cy="365760"/>
          </a:xfrm>
          <a:prstGeom prst="rect">
            <a:avLst/>
          </a:prstGeom>
          <a:noFill/>
        </p:spPr>
        <p:txBody>
          <a:bodyPr wrap="square">
            <a:spAutoFit/>
          </a:bodyPr>
          <a:lstStyle/>
          <a:p>
            <a:pPr algn="l"/>
            <a:r>
              <a:rPr sz="1400" b="1">
                <a:solidFill>
                  <a:srgbClr val="06C755"/>
                </a:solidFill>
              </a:rPr>
              <a:t>Product Catalog &amp; In-Chat Shopping</a:t>
            </a:r>
          </a:p>
        </p:txBody>
      </p:sp>
      <p:sp>
        <p:nvSpPr>
          <p:cNvPr id="15" name="TextBox 14"/>
          <p:cNvSpPr txBox="1"/>
          <p:nvPr/>
        </p:nvSpPr>
        <p:spPr>
          <a:xfrm>
            <a:off x="960120" y="3255263"/>
            <a:ext cx="10789920" cy="411480"/>
          </a:xfrm>
          <a:prstGeom prst="rect">
            <a:avLst/>
          </a:prstGeom>
          <a:noFill/>
        </p:spPr>
        <p:txBody>
          <a:bodyPr wrap="square">
            <a:spAutoFit/>
          </a:bodyPr>
          <a:lstStyle/>
          <a:p>
            <a:pPr algn="l"/>
            <a:r>
              <a:rPr sz="1100" b="0">
                <a:solidFill>
                  <a:srgbClr val="333333"/>
                </a:solidFill>
              </a:rPr>
              <a:t>Showcase products with images, descriptions, and links — enabling seamless in-app discovery and purchase.</a:t>
            </a:r>
          </a:p>
        </p:txBody>
      </p:sp>
      <p:sp>
        <p:nvSpPr>
          <p:cNvPr id="16" name="Rectangle 15"/>
          <p:cNvSpPr/>
          <p:nvPr/>
        </p:nvSpPr>
        <p:spPr>
          <a:xfrm>
            <a:off x="365760" y="3749039"/>
            <a:ext cx="411480" cy="41148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721607"/>
            <a:ext cx="411480" cy="411480"/>
          </a:xfrm>
          <a:prstGeom prst="rect">
            <a:avLst/>
          </a:prstGeom>
          <a:noFill/>
        </p:spPr>
        <p:txBody>
          <a:bodyPr wrap="square">
            <a:spAutoFit/>
          </a:bodyPr>
          <a:lstStyle/>
          <a:p>
            <a:pPr algn="ctr"/>
            <a:r>
              <a:rPr sz="1300" b="1">
                <a:solidFill>
                  <a:srgbClr val="FFFFFF"/>
                </a:solidFill>
              </a:rPr>
              <a:t>4</a:t>
            </a:r>
          </a:p>
        </p:txBody>
      </p:sp>
      <p:sp>
        <p:nvSpPr>
          <p:cNvPr id="18" name="TextBox 17"/>
          <p:cNvSpPr txBox="1"/>
          <p:nvPr/>
        </p:nvSpPr>
        <p:spPr>
          <a:xfrm>
            <a:off x="960120" y="3721607"/>
            <a:ext cx="10789920" cy="365760"/>
          </a:xfrm>
          <a:prstGeom prst="rect">
            <a:avLst/>
          </a:prstGeom>
          <a:noFill/>
        </p:spPr>
        <p:txBody>
          <a:bodyPr wrap="square">
            <a:spAutoFit/>
          </a:bodyPr>
          <a:lstStyle/>
          <a:p>
            <a:pPr algn="l"/>
            <a:r>
              <a:rPr sz="1400" b="1">
                <a:solidFill>
                  <a:srgbClr val="06C755"/>
                </a:solidFill>
              </a:rPr>
              <a:t>Click-to-LINE Ads Integration</a:t>
            </a:r>
          </a:p>
        </p:txBody>
      </p:sp>
      <p:sp>
        <p:nvSpPr>
          <p:cNvPr id="19" name="TextBox 18"/>
          <p:cNvSpPr txBox="1"/>
          <p:nvPr/>
        </p:nvSpPr>
        <p:spPr>
          <a:xfrm>
            <a:off x="960120" y="4032503"/>
            <a:ext cx="10789920" cy="411480"/>
          </a:xfrm>
          <a:prstGeom prst="rect">
            <a:avLst/>
          </a:prstGeom>
          <a:noFill/>
        </p:spPr>
        <p:txBody>
          <a:bodyPr wrap="square">
            <a:spAutoFit/>
          </a:bodyPr>
          <a:lstStyle/>
          <a:p>
            <a:pPr algn="l"/>
            <a:r>
              <a:rPr sz="1100" b="0">
                <a:solidFill>
                  <a:srgbClr val="333333"/>
                </a:solidFill>
              </a:rPr>
              <a:t>Run targeted LINE Ads that direct users straight to a conversation with your OA for instant lead capture.</a:t>
            </a:r>
          </a:p>
        </p:txBody>
      </p:sp>
      <p:sp>
        <p:nvSpPr>
          <p:cNvPr id="20" name="Rectangle 19"/>
          <p:cNvSpPr/>
          <p:nvPr/>
        </p:nvSpPr>
        <p:spPr>
          <a:xfrm>
            <a:off x="365760" y="4526279"/>
            <a:ext cx="411480" cy="41148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4498847"/>
            <a:ext cx="411480" cy="411480"/>
          </a:xfrm>
          <a:prstGeom prst="rect">
            <a:avLst/>
          </a:prstGeom>
          <a:noFill/>
        </p:spPr>
        <p:txBody>
          <a:bodyPr wrap="square">
            <a:spAutoFit/>
          </a:bodyPr>
          <a:lstStyle/>
          <a:p>
            <a:pPr algn="ctr"/>
            <a:r>
              <a:rPr sz="1300" b="1">
                <a:solidFill>
                  <a:srgbClr val="FFFFFF"/>
                </a:solidFill>
              </a:rPr>
              <a:t>5</a:t>
            </a:r>
          </a:p>
        </p:txBody>
      </p:sp>
      <p:sp>
        <p:nvSpPr>
          <p:cNvPr id="22" name="TextBox 21"/>
          <p:cNvSpPr txBox="1"/>
          <p:nvPr/>
        </p:nvSpPr>
        <p:spPr>
          <a:xfrm>
            <a:off x="960120" y="4498847"/>
            <a:ext cx="10789920" cy="365760"/>
          </a:xfrm>
          <a:prstGeom prst="rect">
            <a:avLst/>
          </a:prstGeom>
          <a:noFill/>
        </p:spPr>
        <p:txBody>
          <a:bodyPr wrap="square">
            <a:spAutoFit/>
          </a:bodyPr>
          <a:lstStyle/>
          <a:p>
            <a:pPr algn="l"/>
            <a:r>
              <a:rPr sz="1400" b="1">
                <a:solidFill>
                  <a:srgbClr val="06C755"/>
                </a:solidFill>
              </a:rPr>
              <a:t>Analytics &amp; Insights Dashboard</a:t>
            </a:r>
          </a:p>
        </p:txBody>
      </p:sp>
      <p:sp>
        <p:nvSpPr>
          <p:cNvPr id="23" name="TextBox 22"/>
          <p:cNvSpPr txBox="1"/>
          <p:nvPr/>
        </p:nvSpPr>
        <p:spPr>
          <a:xfrm>
            <a:off x="960120" y="4809743"/>
            <a:ext cx="10789920" cy="411480"/>
          </a:xfrm>
          <a:prstGeom prst="rect">
            <a:avLst/>
          </a:prstGeom>
          <a:noFill/>
        </p:spPr>
        <p:txBody>
          <a:bodyPr wrap="square">
            <a:spAutoFit/>
          </a:bodyPr>
          <a:lstStyle/>
          <a:p>
            <a:pPr algn="l"/>
            <a:r>
              <a:rPr sz="1100" b="0">
                <a:solidFill>
                  <a:srgbClr val="333333"/>
                </a:solidFill>
              </a:rPr>
              <a:t>Track message open rates, follower growth, chat interactions, and campaign performance in real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914400"/>
          </a:xfrm>
          <a:prstGeom prst="rect">
            <a:avLst/>
          </a:prstGeom>
          <a:noFill/>
        </p:spPr>
        <p:txBody>
          <a:bodyPr wrap="square">
            <a:spAutoFit/>
          </a:bodyPr>
          <a:lstStyle/>
          <a:p>
            <a:pPr algn="l"/>
            <a:r>
              <a:rPr sz="2800" b="1">
                <a:solidFill>
                  <a:srgbClr val="FFFFFF"/>
                </a:solidFill>
              </a:rPr>
              <a:t>★  Customer Service Benefits</a:t>
            </a:r>
          </a:p>
        </p:txBody>
      </p:sp>
      <p:sp>
        <p:nvSpPr>
          <p:cNvPr id="4" name="Rectangle 3"/>
          <p:cNvSpPr/>
          <p:nvPr/>
        </p:nvSpPr>
        <p:spPr>
          <a:xfrm>
            <a:off x="365760" y="1417320"/>
            <a:ext cx="411480" cy="41148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89888"/>
            <a:ext cx="411480" cy="411480"/>
          </a:xfrm>
          <a:prstGeom prst="rect">
            <a:avLst/>
          </a:prstGeom>
          <a:noFill/>
        </p:spPr>
        <p:txBody>
          <a:bodyPr wrap="square">
            <a:spAutoFit/>
          </a:bodyPr>
          <a:lstStyle/>
          <a:p>
            <a:pPr algn="ctr"/>
            <a:r>
              <a:rPr sz="1300" b="1">
                <a:solidFill>
                  <a:srgbClr val="FFFFFF"/>
                </a:solidFill>
              </a:rPr>
              <a:t>1</a:t>
            </a:r>
          </a:p>
        </p:txBody>
      </p:sp>
      <p:sp>
        <p:nvSpPr>
          <p:cNvPr id="6" name="TextBox 5"/>
          <p:cNvSpPr txBox="1"/>
          <p:nvPr/>
        </p:nvSpPr>
        <p:spPr>
          <a:xfrm>
            <a:off x="960120" y="1389888"/>
            <a:ext cx="10789920" cy="365760"/>
          </a:xfrm>
          <a:prstGeom prst="rect">
            <a:avLst/>
          </a:prstGeom>
          <a:noFill/>
        </p:spPr>
        <p:txBody>
          <a:bodyPr wrap="square">
            <a:spAutoFit/>
          </a:bodyPr>
          <a:lstStyle/>
          <a:p>
            <a:pPr algn="l"/>
            <a:r>
              <a:rPr sz="1400" b="1">
                <a:solidFill>
                  <a:srgbClr val="06C755"/>
                </a:solidFill>
              </a:rPr>
              <a:t>Multi-Agent Chat Management</a:t>
            </a:r>
          </a:p>
        </p:txBody>
      </p:sp>
      <p:sp>
        <p:nvSpPr>
          <p:cNvPr id="7" name="TextBox 6"/>
          <p:cNvSpPr txBox="1"/>
          <p:nvPr/>
        </p:nvSpPr>
        <p:spPr>
          <a:xfrm>
            <a:off x="960120" y="1700784"/>
            <a:ext cx="10789920" cy="411480"/>
          </a:xfrm>
          <a:prstGeom prst="rect">
            <a:avLst/>
          </a:prstGeom>
          <a:noFill/>
        </p:spPr>
        <p:txBody>
          <a:bodyPr wrap="square">
            <a:spAutoFit/>
          </a:bodyPr>
          <a:lstStyle/>
          <a:p>
            <a:pPr algn="l"/>
            <a:r>
              <a:rPr sz="1100" b="0">
                <a:solidFill>
                  <a:srgbClr val="333333"/>
                </a:solidFill>
              </a:rPr>
              <a:t>Multiple staff members can manage and respond to customer chats simultaneously through one OA inbox.</a:t>
            </a:r>
          </a:p>
        </p:txBody>
      </p:sp>
      <p:sp>
        <p:nvSpPr>
          <p:cNvPr id="8" name="Rectangle 7"/>
          <p:cNvSpPr/>
          <p:nvPr/>
        </p:nvSpPr>
        <p:spPr>
          <a:xfrm>
            <a:off x="365760" y="2194560"/>
            <a:ext cx="411480" cy="41148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167127"/>
            <a:ext cx="411480" cy="411480"/>
          </a:xfrm>
          <a:prstGeom prst="rect">
            <a:avLst/>
          </a:prstGeom>
          <a:noFill/>
        </p:spPr>
        <p:txBody>
          <a:bodyPr wrap="square">
            <a:spAutoFit/>
          </a:bodyPr>
          <a:lstStyle/>
          <a:p>
            <a:pPr algn="ctr"/>
            <a:r>
              <a:rPr sz="1300" b="1">
                <a:solidFill>
                  <a:srgbClr val="FFFFFF"/>
                </a:solidFill>
              </a:rPr>
              <a:t>2</a:t>
            </a:r>
          </a:p>
        </p:txBody>
      </p:sp>
      <p:sp>
        <p:nvSpPr>
          <p:cNvPr id="10" name="TextBox 9"/>
          <p:cNvSpPr txBox="1"/>
          <p:nvPr/>
        </p:nvSpPr>
        <p:spPr>
          <a:xfrm>
            <a:off x="960120" y="2167127"/>
            <a:ext cx="10789920" cy="365760"/>
          </a:xfrm>
          <a:prstGeom prst="rect">
            <a:avLst/>
          </a:prstGeom>
          <a:noFill/>
        </p:spPr>
        <p:txBody>
          <a:bodyPr wrap="square">
            <a:spAutoFit/>
          </a:bodyPr>
          <a:lstStyle/>
          <a:p>
            <a:pPr algn="l"/>
            <a:r>
              <a:rPr sz="1400" b="1">
                <a:solidFill>
                  <a:srgbClr val="06C755"/>
                </a:solidFill>
              </a:rPr>
              <a:t>Chat Tags &amp; Customer Labels</a:t>
            </a:r>
          </a:p>
        </p:txBody>
      </p:sp>
      <p:sp>
        <p:nvSpPr>
          <p:cNvPr id="11" name="TextBox 10"/>
          <p:cNvSpPr txBox="1"/>
          <p:nvPr/>
        </p:nvSpPr>
        <p:spPr>
          <a:xfrm>
            <a:off x="960120" y="2478023"/>
            <a:ext cx="10789920" cy="411480"/>
          </a:xfrm>
          <a:prstGeom prst="rect">
            <a:avLst/>
          </a:prstGeom>
          <a:noFill/>
        </p:spPr>
        <p:txBody>
          <a:bodyPr wrap="square">
            <a:spAutoFit/>
          </a:bodyPr>
          <a:lstStyle/>
          <a:p>
            <a:pPr algn="l"/>
            <a:r>
              <a:rPr sz="1100" b="0">
                <a:solidFill>
                  <a:srgbClr val="333333"/>
                </a:solidFill>
              </a:rPr>
              <a:t>Organize conversations with custom tags and labels for efficient customer tracking and follow-up.</a:t>
            </a:r>
          </a:p>
        </p:txBody>
      </p:sp>
      <p:sp>
        <p:nvSpPr>
          <p:cNvPr id="12" name="Rectangle 11"/>
          <p:cNvSpPr/>
          <p:nvPr/>
        </p:nvSpPr>
        <p:spPr>
          <a:xfrm>
            <a:off x="365760" y="2971799"/>
            <a:ext cx="411480" cy="41148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944367"/>
            <a:ext cx="411480" cy="411480"/>
          </a:xfrm>
          <a:prstGeom prst="rect">
            <a:avLst/>
          </a:prstGeom>
          <a:noFill/>
        </p:spPr>
        <p:txBody>
          <a:bodyPr wrap="square">
            <a:spAutoFit/>
          </a:bodyPr>
          <a:lstStyle/>
          <a:p>
            <a:pPr algn="ctr"/>
            <a:r>
              <a:rPr sz="1300" b="1">
                <a:solidFill>
                  <a:srgbClr val="FFFFFF"/>
                </a:solidFill>
              </a:rPr>
              <a:t>3</a:t>
            </a:r>
          </a:p>
        </p:txBody>
      </p:sp>
      <p:sp>
        <p:nvSpPr>
          <p:cNvPr id="14" name="TextBox 13"/>
          <p:cNvSpPr txBox="1"/>
          <p:nvPr/>
        </p:nvSpPr>
        <p:spPr>
          <a:xfrm>
            <a:off x="960120" y="2944367"/>
            <a:ext cx="10789920" cy="365760"/>
          </a:xfrm>
          <a:prstGeom prst="rect">
            <a:avLst/>
          </a:prstGeom>
          <a:noFill/>
        </p:spPr>
        <p:txBody>
          <a:bodyPr wrap="square">
            <a:spAutoFit/>
          </a:bodyPr>
          <a:lstStyle/>
          <a:p>
            <a:pPr algn="l"/>
            <a:r>
              <a:rPr sz="1400" b="1">
                <a:solidFill>
                  <a:srgbClr val="06C755"/>
                </a:solidFill>
              </a:rPr>
              <a:t>Automated Welcome Messages</a:t>
            </a:r>
          </a:p>
        </p:txBody>
      </p:sp>
      <p:sp>
        <p:nvSpPr>
          <p:cNvPr id="15" name="TextBox 14"/>
          <p:cNvSpPr txBox="1"/>
          <p:nvPr/>
        </p:nvSpPr>
        <p:spPr>
          <a:xfrm>
            <a:off x="960120" y="3255263"/>
            <a:ext cx="10789920" cy="411480"/>
          </a:xfrm>
          <a:prstGeom prst="rect">
            <a:avLst/>
          </a:prstGeom>
          <a:noFill/>
        </p:spPr>
        <p:txBody>
          <a:bodyPr wrap="square">
            <a:spAutoFit/>
          </a:bodyPr>
          <a:lstStyle/>
          <a:p>
            <a:pPr algn="l"/>
            <a:r>
              <a:rPr sz="1100" b="0">
                <a:solidFill>
                  <a:srgbClr val="333333"/>
                </a:solidFill>
              </a:rPr>
              <a:t>Greet every new follower instantly with a personalized welcome message and onboarding flow.</a:t>
            </a:r>
          </a:p>
        </p:txBody>
      </p:sp>
      <p:sp>
        <p:nvSpPr>
          <p:cNvPr id="16" name="Rectangle 15"/>
          <p:cNvSpPr/>
          <p:nvPr/>
        </p:nvSpPr>
        <p:spPr>
          <a:xfrm>
            <a:off x="365760" y="3749039"/>
            <a:ext cx="411480" cy="41148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721607"/>
            <a:ext cx="411480" cy="411480"/>
          </a:xfrm>
          <a:prstGeom prst="rect">
            <a:avLst/>
          </a:prstGeom>
          <a:noFill/>
        </p:spPr>
        <p:txBody>
          <a:bodyPr wrap="square">
            <a:spAutoFit/>
          </a:bodyPr>
          <a:lstStyle/>
          <a:p>
            <a:pPr algn="ctr"/>
            <a:r>
              <a:rPr sz="1300" b="1">
                <a:solidFill>
                  <a:srgbClr val="FFFFFF"/>
                </a:solidFill>
              </a:rPr>
              <a:t>4</a:t>
            </a:r>
          </a:p>
        </p:txBody>
      </p:sp>
      <p:sp>
        <p:nvSpPr>
          <p:cNvPr id="18" name="TextBox 17"/>
          <p:cNvSpPr txBox="1"/>
          <p:nvPr/>
        </p:nvSpPr>
        <p:spPr>
          <a:xfrm>
            <a:off x="960120" y="3721607"/>
            <a:ext cx="10789920" cy="365760"/>
          </a:xfrm>
          <a:prstGeom prst="rect">
            <a:avLst/>
          </a:prstGeom>
          <a:noFill/>
        </p:spPr>
        <p:txBody>
          <a:bodyPr wrap="square">
            <a:spAutoFit/>
          </a:bodyPr>
          <a:lstStyle/>
          <a:p>
            <a:pPr algn="l"/>
            <a:r>
              <a:rPr sz="1400" b="1">
                <a:solidFill>
                  <a:srgbClr val="06C755"/>
                </a:solidFill>
              </a:rPr>
              <a:t>Appointment &amp; Booking Systems</a:t>
            </a:r>
          </a:p>
        </p:txBody>
      </p:sp>
      <p:sp>
        <p:nvSpPr>
          <p:cNvPr id="19" name="TextBox 18"/>
          <p:cNvSpPr txBox="1"/>
          <p:nvPr/>
        </p:nvSpPr>
        <p:spPr>
          <a:xfrm>
            <a:off x="960120" y="4032503"/>
            <a:ext cx="10789920" cy="411480"/>
          </a:xfrm>
          <a:prstGeom prst="rect">
            <a:avLst/>
          </a:prstGeom>
          <a:noFill/>
        </p:spPr>
        <p:txBody>
          <a:bodyPr wrap="square">
            <a:spAutoFit/>
          </a:bodyPr>
          <a:lstStyle/>
          <a:p>
            <a:pPr algn="l"/>
            <a:r>
              <a:rPr sz="1100" b="0">
                <a:solidFill>
                  <a:srgbClr val="333333"/>
                </a:solidFill>
              </a:rPr>
              <a:t>Integrate booking modules so customers can schedule appointments directly within the LINE conversation.</a:t>
            </a:r>
          </a:p>
        </p:txBody>
      </p:sp>
      <p:sp>
        <p:nvSpPr>
          <p:cNvPr id="20" name="Rectangle 19"/>
          <p:cNvSpPr/>
          <p:nvPr/>
        </p:nvSpPr>
        <p:spPr>
          <a:xfrm>
            <a:off x="365760" y="4526279"/>
            <a:ext cx="411480" cy="41148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4498847"/>
            <a:ext cx="411480" cy="411480"/>
          </a:xfrm>
          <a:prstGeom prst="rect">
            <a:avLst/>
          </a:prstGeom>
          <a:noFill/>
        </p:spPr>
        <p:txBody>
          <a:bodyPr wrap="square">
            <a:spAutoFit/>
          </a:bodyPr>
          <a:lstStyle/>
          <a:p>
            <a:pPr algn="ctr"/>
            <a:r>
              <a:rPr sz="1300" b="1">
                <a:solidFill>
                  <a:srgbClr val="FFFFFF"/>
                </a:solidFill>
              </a:rPr>
              <a:t>5</a:t>
            </a:r>
          </a:p>
        </p:txBody>
      </p:sp>
      <p:sp>
        <p:nvSpPr>
          <p:cNvPr id="22" name="TextBox 21"/>
          <p:cNvSpPr txBox="1"/>
          <p:nvPr/>
        </p:nvSpPr>
        <p:spPr>
          <a:xfrm>
            <a:off x="960120" y="4498847"/>
            <a:ext cx="10789920" cy="365760"/>
          </a:xfrm>
          <a:prstGeom prst="rect">
            <a:avLst/>
          </a:prstGeom>
          <a:noFill/>
        </p:spPr>
        <p:txBody>
          <a:bodyPr wrap="square">
            <a:spAutoFit/>
          </a:bodyPr>
          <a:lstStyle/>
          <a:p>
            <a:pPr algn="l"/>
            <a:r>
              <a:rPr sz="1400" b="1">
                <a:solidFill>
                  <a:srgbClr val="06C755"/>
                </a:solidFill>
              </a:rPr>
              <a:t>Order Status &amp; Notifications</a:t>
            </a:r>
          </a:p>
        </p:txBody>
      </p:sp>
      <p:sp>
        <p:nvSpPr>
          <p:cNvPr id="23" name="TextBox 22"/>
          <p:cNvSpPr txBox="1"/>
          <p:nvPr/>
        </p:nvSpPr>
        <p:spPr>
          <a:xfrm>
            <a:off x="960120" y="4809743"/>
            <a:ext cx="10789920" cy="411480"/>
          </a:xfrm>
          <a:prstGeom prst="rect">
            <a:avLst/>
          </a:prstGeom>
          <a:noFill/>
        </p:spPr>
        <p:txBody>
          <a:bodyPr wrap="square">
            <a:spAutoFit/>
          </a:bodyPr>
          <a:lstStyle/>
          <a:p>
            <a:pPr algn="l"/>
            <a:r>
              <a:rPr sz="1100" b="0">
                <a:solidFill>
                  <a:srgbClr val="333333"/>
                </a:solidFill>
              </a:rPr>
              <a:t>Send transactional notifications like order confirmations, shipping updates, and payment receipts via chat.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914400"/>
          </a:xfrm>
          <a:prstGeom prst="rect">
            <a:avLst/>
          </a:prstGeom>
          <a:noFill/>
        </p:spPr>
        <p:txBody>
          <a:bodyPr wrap="square">
            <a:spAutoFit/>
          </a:bodyPr>
          <a:lstStyle/>
          <a:p>
            <a:pPr algn="l"/>
            <a:r>
              <a:rPr sz="2800" b="1">
                <a:solidFill>
                  <a:srgbClr val="FFFFFF"/>
                </a:solidFill>
              </a:rPr>
              <a:t>★  Technical &amp; Integration Benefits</a:t>
            </a:r>
          </a:p>
        </p:txBody>
      </p:sp>
      <p:sp>
        <p:nvSpPr>
          <p:cNvPr id="4" name="Rectangle 3"/>
          <p:cNvSpPr/>
          <p:nvPr/>
        </p:nvSpPr>
        <p:spPr>
          <a:xfrm>
            <a:off x="365760" y="1417320"/>
            <a:ext cx="411480" cy="41148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89888"/>
            <a:ext cx="411480" cy="411480"/>
          </a:xfrm>
          <a:prstGeom prst="rect">
            <a:avLst/>
          </a:prstGeom>
          <a:noFill/>
        </p:spPr>
        <p:txBody>
          <a:bodyPr wrap="square">
            <a:spAutoFit/>
          </a:bodyPr>
          <a:lstStyle/>
          <a:p>
            <a:pPr algn="ctr"/>
            <a:r>
              <a:rPr sz="1300" b="1">
                <a:solidFill>
                  <a:srgbClr val="FFFFFF"/>
                </a:solidFill>
              </a:rPr>
              <a:t>1</a:t>
            </a:r>
          </a:p>
        </p:txBody>
      </p:sp>
      <p:sp>
        <p:nvSpPr>
          <p:cNvPr id="6" name="TextBox 5"/>
          <p:cNvSpPr txBox="1"/>
          <p:nvPr/>
        </p:nvSpPr>
        <p:spPr>
          <a:xfrm>
            <a:off x="960120" y="1389888"/>
            <a:ext cx="10789920" cy="365760"/>
          </a:xfrm>
          <a:prstGeom prst="rect">
            <a:avLst/>
          </a:prstGeom>
          <a:noFill/>
        </p:spPr>
        <p:txBody>
          <a:bodyPr wrap="square">
            <a:spAutoFit/>
          </a:bodyPr>
          <a:lstStyle/>
          <a:p>
            <a:pPr algn="l"/>
            <a:r>
              <a:rPr sz="1400" b="1">
                <a:solidFill>
                  <a:srgbClr val="06C755"/>
                </a:solidFill>
              </a:rPr>
              <a:t>LINE Login &amp; Social Authentication</a:t>
            </a:r>
          </a:p>
        </p:txBody>
      </p:sp>
      <p:sp>
        <p:nvSpPr>
          <p:cNvPr id="7" name="TextBox 6"/>
          <p:cNvSpPr txBox="1"/>
          <p:nvPr/>
        </p:nvSpPr>
        <p:spPr>
          <a:xfrm>
            <a:off x="960120" y="1700784"/>
            <a:ext cx="10789920" cy="411480"/>
          </a:xfrm>
          <a:prstGeom prst="rect">
            <a:avLst/>
          </a:prstGeom>
          <a:noFill/>
        </p:spPr>
        <p:txBody>
          <a:bodyPr wrap="square">
            <a:spAutoFit/>
          </a:bodyPr>
          <a:lstStyle/>
          <a:p>
            <a:pPr algn="l"/>
            <a:r>
              <a:rPr sz="1100" b="0">
                <a:solidFill>
                  <a:srgbClr val="333333"/>
                </a:solidFill>
              </a:rPr>
              <a:t>Enable users to log in to your website or app using their LINE account for a frictionless experience.</a:t>
            </a:r>
          </a:p>
        </p:txBody>
      </p:sp>
      <p:sp>
        <p:nvSpPr>
          <p:cNvPr id="8" name="Rectangle 7"/>
          <p:cNvSpPr/>
          <p:nvPr/>
        </p:nvSpPr>
        <p:spPr>
          <a:xfrm>
            <a:off x="365760" y="2194560"/>
            <a:ext cx="411480" cy="41148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167127"/>
            <a:ext cx="411480" cy="411480"/>
          </a:xfrm>
          <a:prstGeom prst="rect">
            <a:avLst/>
          </a:prstGeom>
          <a:noFill/>
        </p:spPr>
        <p:txBody>
          <a:bodyPr wrap="square">
            <a:spAutoFit/>
          </a:bodyPr>
          <a:lstStyle/>
          <a:p>
            <a:pPr algn="ctr"/>
            <a:r>
              <a:rPr sz="1300" b="1">
                <a:solidFill>
                  <a:srgbClr val="FFFFFF"/>
                </a:solidFill>
              </a:rPr>
              <a:t>2</a:t>
            </a:r>
          </a:p>
        </p:txBody>
      </p:sp>
      <p:sp>
        <p:nvSpPr>
          <p:cNvPr id="10" name="TextBox 9"/>
          <p:cNvSpPr txBox="1"/>
          <p:nvPr/>
        </p:nvSpPr>
        <p:spPr>
          <a:xfrm>
            <a:off x="960120" y="2167127"/>
            <a:ext cx="10789920" cy="365760"/>
          </a:xfrm>
          <a:prstGeom prst="rect">
            <a:avLst/>
          </a:prstGeom>
          <a:noFill/>
        </p:spPr>
        <p:txBody>
          <a:bodyPr wrap="square">
            <a:spAutoFit/>
          </a:bodyPr>
          <a:lstStyle/>
          <a:p>
            <a:pPr algn="l"/>
            <a:r>
              <a:rPr sz="1400" b="1">
                <a:solidFill>
                  <a:srgbClr val="06C755"/>
                </a:solidFill>
              </a:rPr>
              <a:t>Messaging API &amp; Webhooks</a:t>
            </a:r>
          </a:p>
        </p:txBody>
      </p:sp>
      <p:sp>
        <p:nvSpPr>
          <p:cNvPr id="11" name="TextBox 10"/>
          <p:cNvSpPr txBox="1"/>
          <p:nvPr/>
        </p:nvSpPr>
        <p:spPr>
          <a:xfrm>
            <a:off x="960120" y="2478023"/>
            <a:ext cx="10789920" cy="411480"/>
          </a:xfrm>
          <a:prstGeom prst="rect">
            <a:avLst/>
          </a:prstGeom>
          <a:noFill/>
        </p:spPr>
        <p:txBody>
          <a:bodyPr wrap="square">
            <a:spAutoFit/>
          </a:bodyPr>
          <a:lstStyle/>
          <a:p>
            <a:pPr algn="l"/>
            <a:r>
              <a:rPr sz="1100" b="0">
                <a:solidFill>
                  <a:srgbClr val="333333"/>
                </a:solidFill>
              </a:rPr>
              <a:t>Use the LINE Messaging API to build custom bots, integrate CRM systems, and automate workflows.</a:t>
            </a:r>
          </a:p>
        </p:txBody>
      </p:sp>
      <p:sp>
        <p:nvSpPr>
          <p:cNvPr id="12" name="Rectangle 11"/>
          <p:cNvSpPr/>
          <p:nvPr/>
        </p:nvSpPr>
        <p:spPr>
          <a:xfrm>
            <a:off x="365760" y="2971799"/>
            <a:ext cx="411480" cy="41148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944367"/>
            <a:ext cx="411480" cy="411480"/>
          </a:xfrm>
          <a:prstGeom prst="rect">
            <a:avLst/>
          </a:prstGeom>
          <a:noFill/>
        </p:spPr>
        <p:txBody>
          <a:bodyPr wrap="square">
            <a:spAutoFit/>
          </a:bodyPr>
          <a:lstStyle/>
          <a:p>
            <a:pPr algn="ctr"/>
            <a:r>
              <a:rPr sz="1300" b="1">
                <a:solidFill>
                  <a:srgbClr val="FFFFFF"/>
                </a:solidFill>
              </a:rPr>
              <a:t>3</a:t>
            </a:r>
          </a:p>
        </p:txBody>
      </p:sp>
      <p:sp>
        <p:nvSpPr>
          <p:cNvPr id="14" name="TextBox 13"/>
          <p:cNvSpPr txBox="1"/>
          <p:nvPr/>
        </p:nvSpPr>
        <p:spPr>
          <a:xfrm>
            <a:off x="960120" y="2944367"/>
            <a:ext cx="10789920" cy="365760"/>
          </a:xfrm>
          <a:prstGeom prst="rect">
            <a:avLst/>
          </a:prstGeom>
          <a:noFill/>
        </p:spPr>
        <p:txBody>
          <a:bodyPr wrap="square">
            <a:spAutoFit/>
          </a:bodyPr>
          <a:lstStyle/>
          <a:p>
            <a:pPr algn="l"/>
            <a:r>
              <a:rPr sz="1400" b="1">
                <a:solidFill>
                  <a:srgbClr val="06C755"/>
                </a:solidFill>
              </a:rPr>
              <a:t>LIFF (LINE Front-end Framework)</a:t>
            </a:r>
          </a:p>
        </p:txBody>
      </p:sp>
      <p:sp>
        <p:nvSpPr>
          <p:cNvPr id="15" name="TextBox 14"/>
          <p:cNvSpPr txBox="1"/>
          <p:nvPr/>
        </p:nvSpPr>
        <p:spPr>
          <a:xfrm>
            <a:off x="960120" y="3255263"/>
            <a:ext cx="10789920" cy="411480"/>
          </a:xfrm>
          <a:prstGeom prst="rect">
            <a:avLst/>
          </a:prstGeom>
          <a:noFill/>
        </p:spPr>
        <p:txBody>
          <a:bodyPr wrap="square">
            <a:spAutoFit/>
          </a:bodyPr>
          <a:lstStyle/>
          <a:p>
            <a:pPr algn="l"/>
            <a:r>
              <a:rPr sz="1100" b="0">
                <a:solidFill>
                  <a:srgbClr val="333333"/>
                </a:solidFill>
              </a:rPr>
              <a:t>Build mini web apps that run inside LINE, delivering rich interactive experiences without leaving the app.</a:t>
            </a:r>
          </a:p>
        </p:txBody>
      </p:sp>
      <p:sp>
        <p:nvSpPr>
          <p:cNvPr id="16" name="Rectangle 15"/>
          <p:cNvSpPr/>
          <p:nvPr/>
        </p:nvSpPr>
        <p:spPr>
          <a:xfrm>
            <a:off x="365760" y="3749039"/>
            <a:ext cx="411480" cy="41148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721607"/>
            <a:ext cx="411480" cy="411480"/>
          </a:xfrm>
          <a:prstGeom prst="rect">
            <a:avLst/>
          </a:prstGeom>
          <a:noFill/>
        </p:spPr>
        <p:txBody>
          <a:bodyPr wrap="square">
            <a:spAutoFit/>
          </a:bodyPr>
          <a:lstStyle/>
          <a:p>
            <a:pPr algn="ctr"/>
            <a:r>
              <a:rPr sz="1300" b="1">
                <a:solidFill>
                  <a:srgbClr val="FFFFFF"/>
                </a:solidFill>
              </a:rPr>
              <a:t>4</a:t>
            </a:r>
          </a:p>
        </p:txBody>
      </p:sp>
      <p:sp>
        <p:nvSpPr>
          <p:cNvPr id="18" name="TextBox 17"/>
          <p:cNvSpPr txBox="1"/>
          <p:nvPr/>
        </p:nvSpPr>
        <p:spPr>
          <a:xfrm>
            <a:off x="960120" y="3721607"/>
            <a:ext cx="10789920" cy="365760"/>
          </a:xfrm>
          <a:prstGeom prst="rect">
            <a:avLst/>
          </a:prstGeom>
          <a:noFill/>
        </p:spPr>
        <p:txBody>
          <a:bodyPr wrap="square">
            <a:spAutoFit/>
          </a:bodyPr>
          <a:lstStyle/>
          <a:p>
            <a:pPr algn="l"/>
            <a:r>
              <a:rPr sz="1400" b="1">
                <a:solidFill>
                  <a:srgbClr val="06C755"/>
                </a:solidFill>
              </a:rPr>
              <a:t>CRM &amp; Third-Party Integration</a:t>
            </a:r>
          </a:p>
        </p:txBody>
      </p:sp>
      <p:sp>
        <p:nvSpPr>
          <p:cNvPr id="19" name="TextBox 18"/>
          <p:cNvSpPr txBox="1"/>
          <p:nvPr/>
        </p:nvSpPr>
        <p:spPr>
          <a:xfrm>
            <a:off x="960120" y="4032503"/>
            <a:ext cx="10789920" cy="411480"/>
          </a:xfrm>
          <a:prstGeom prst="rect">
            <a:avLst/>
          </a:prstGeom>
          <a:noFill/>
        </p:spPr>
        <p:txBody>
          <a:bodyPr wrap="square">
            <a:spAutoFit/>
          </a:bodyPr>
          <a:lstStyle/>
          <a:p>
            <a:pPr algn="l"/>
            <a:r>
              <a:rPr sz="1100" b="0">
                <a:solidFill>
                  <a:srgbClr val="333333"/>
                </a:solidFill>
              </a:rPr>
              <a:t>Connect LINE OA with Salesforce, HubSpot, Zapier, and other tools for unified customer data management.</a:t>
            </a:r>
          </a:p>
        </p:txBody>
      </p:sp>
      <p:sp>
        <p:nvSpPr>
          <p:cNvPr id="20" name="Rectangle 19"/>
          <p:cNvSpPr/>
          <p:nvPr/>
        </p:nvSpPr>
        <p:spPr>
          <a:xfrm>
            <a:off x="365760" y="4526279"/>
            <a:ext cx="411480" cy="41148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4498847"/>
            <a:ext cx="411480" cy="411480"/>
          </a:xfrm>
          <a:prstGeom prst="rect">
            <a:avLst/>
          </a:prstGeom>
          <a:noFill/>
        </p:spPr>
        <p:txBody>
          <a:bodyPr wrap="square">
            <a:spAutoFit/>
          </a:bodyPr>
          <a:lstStyle/>
          <a:p>
            <a:pPr algn="ctr"/>
            <a:r>
              <a:rPr sz="1300" b="1">
                <a:solidFill>
                  <a:srgbClr val="FFFFFF"/>
                </a:solidFill>
              </a:rPr>
              <a:t>5</a:t>
            </a:r>
          </a:p>
        </p:txBody>
      </p:sp>
      <p:sp>
        <p:nvSpPr>
          <p:cNvPr id="22" name="TextBox 21"/>
          <p:cNvSpPr txBox="1"/>
          <p:nvPr/>
        </p:nvSpPr>
        <p:spPr>
          <a:xfrm>
            <a:off x="960120" y="4498847"/>
            <a:ext cx="10789920" cy="365760"/>
          </a:xfrm>
          <a:prstGeom prst="rect">
            <a:avLst/>
          </a:prstGeom>
          <a:noFill/>
        </p:spPr>
        <p:txBody>
          <a:bodyPr wrap="square">
            <a:spAutoFit/>
          </a:bodyPr>
          <a:lstStyle/>
          <a:p>
            <a:pPr algn="l"/>
            <a:r>
              <a:rPr sz="1400" b="1">
                <a:solidFill>
                  <a:srgbClr val="06C755"/>
                </a:solidFill>
              </a:rPr>
              <a:t>LINE Pay Integration</a:t>
            </a:r>
          </a:p>
        </p:txBody>
      </p:sp>
      <p:sp>
        <p:nvSpPr>
          <p:cNvPr id="23" name="TextBox 22"/>
          <p:cNvSpPr txBox="1"/>
          <p:nvPr/>
        </p:nvSpPr>
        <p:spPr>
          <a:xfrm>
            <a:off x="960120" y="4809743"/>
            <a:ext cx="10789920" cy="411480"/>
          </a:xfrm>
          <a:prstGeom prst="rect">
            <a:avLst/>
          </a:prstGeom>
          <a:noFill/>
        </p:spPr>
        <p:txBody>
          <a:bodyPr wrap="square">
            <a:spAutoFit/>
          </a:bodyPr>
          <a:lstStyle/>
          <a:p>
            <a:pPr algn="l"/>
            <a:r>
              <a:rPr sz="1100" b="0">
                <a:solidFill>
                  <a:srgbClr val="333333"/>
                </a:solidFill>
              </a:rPr>
              <a:t>Accept payments seamlessly within LINE conversations using LINE Pay for a smooth checkout experience.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914400"/>
          </a:xfrm>
          <a:prstGeom prst="rect">
            <a:avLst/>
          </a:prstGeom>
          <a:noFill/>
        </p:spPr>
        <p:txBody>
          <a:bodyPr wrap="square">
            <a:spAutoFit/>
          </a:bodyPr>
          <a:lstStyle/>
          <a:p>
            <a:pPr algn="l"/>
            <a:r>
              <a:rPr sz="2800" b="1">
                <a:solidFill>
                  <a:srgbClr val="FFFFFF"/>
                </a:solidFill>
              </a:rPr>
              <a:t>Plans &amp; Pricing Overview</a:t>
            </a:r>
          </a:p>
        </p:txBody>
      </p:sp>
      <p:sp>
        <p:nvSpPr>
          <p:cNvPr id="4" name="Rectangle 3"/>
          <p:cNvSpPr/>
          <p:nvPr/>
        </p:nvSpPr>
        <p:spPr>
          <a:xfrm>
            <a:off x="457200" y="1371600"/>
            <a:ext cx="3566160" cy="4937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3566160" cy="91440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17320"/>
            <a:ext cx="3566160" cy="457200"/>
          </a:xfrm>
          <a:prstGeom prst="rect">
            <a:avLst/>
          </a:prstGeom>
          <a:noFill/>
        </p:spPr>
        <p:txBody>
          <a:bodyPr wrap="square">
            <a:spAutoFit/>
          </a:bodyPr>
          <a:lstStyle/>
          <a:p>
            <a:pPr algn="ctr"/>
            <a:r>
              <a:rPr sz="1600" b="1">
                <a:solidFill>
                  <a:srgbClr val="FFFFFF"/>
                </a:solidFill>
              </a:rPr>
              <a:t>Free Plan</a:t>
            </a:r>
          </a:p>
        </p:txBody>
      </p:sp>
      <p:sp>
        <p:nvSpPr>
          <p:cNvPr id="7" name="TextBox 6"/>
          <p:cNvSpPr txBox="1"/>
          <p:nvPr/>
        </p:nvSpPr>
        <p:spPr>
          <a:xfrm>
            <a:off x="457200" y="1920240"/>
            <a:ext cx="3566160" cy="457200"/>
          </a:xfrm>
          <a:prstGeom prst="rect">
            <a:avLst/>
          </a:prstGeom>
          <a:noFill/>
        </p:spPr>
        <p:txBody>
          <a:bodyPr wrap="square">
            <a:spAutoFit/>
          </a:bodyPr>
          <a:lstStyle/>
          <a:p>
            <a:pPr algn="ctr"/>
            <a:r>
              <a:rPr sz="1400" b="0">
                <a:solidFill>
                  <a:srgbClr val="FFFFFF"/>
                </a:solidFill>
              </a:rPr>
              <a:t>0 THB/mo</a:t>
            </a:r>
          </a:p>
        </p:txBody>
      </p:sp>
      <p:sp>
        <p:nvSpPr>
          <p:cNvPr id="8" name="TextBox 7"/>
          <p:cNvSpPr txBox="1"/>
          <p:nvPr/>
        </p:nvSpPr>
        <p:spPr>
          <a:xfrm>
            <a:off x="640080" y="2560320"/>
            <a:ext cx="3200400" cy="365760"/>
          </a:xfrm>
          <a:prstGeom prst="rect">
            <a:avLst/>
          </a:prstGeom>
          <a:noFill/>
        </p:spPr>
        <p:txBody>
          <a:bodyPr wrap="square">
            <a:spAutoFit/>
          </a:bodyPr>
          <a:lstStyle/>
          <a:p>
            <a:pPr algn="l"/>
            <a:r>
              <a:rPr sz="1200" b="0">
                <a:solidFill>
                  <a:srgbClr val="333333"/>
                </a:solidFill>
              </a:rPr>
              <a:t>✓  500 msgs/month</a:t>
            </a:r>
          </a:p>
        </p:txBody>
      </p:sp>
      <p:sp>
        <p:nvSpPr>
          <p:cNvPr id="9" name="TextBox 8"/>
          <p:cNvSpPr txBox="1"/>
          <p:nvPr/>
        </p:nvSpPr>
        <p:spPr>
          <a:xfrm>
            <a:off x="640080" y="3017520"/>
            <a:ext cx="3200400" cy="365760"/>
          </a:xfrm>
          <a:prstGeom prst="rect">
            <a:avLst/>
          </a:prstGeom>
          <a:noFill/>
        </p:spPr>
        <p:txBody>
          <a:bodyPr wrap="square">
            <a:spAutoFit/>
          </a:bodyPr>
          <a:lstStyle/>
          <a:p>
            <a:pPr algn="l"/>
            <a:r>
              <a:rPr sz="1200" b="0">
                <a:solidFill>
                  <a:srgbClr val="333333"/>
                </a:solidFill>
              </a:rPr>
              <a:t>✓  Basic features</a:t>
            </a:r>
          </a:p>
        </p:txBody>
      </p:sp>
      <p:sp>
        <p:nvSpPr>
          <p:cNvPr id="10" name="TextBox 9"/>
          <p:cNvSpPr txBox="1"/>
          <p:nvPr/>
        </p:nvSpPr>
        <p:spPr>
          <a:xfrm>
            <a:off x="640080" y="3474720"/>
            <a:ext cx="3200400" cy="365760"/>
          </a:xfrm>
          <a:prstGeom prst="rect">
            <a:avLst/>
          </a:prstGeom>
          <a:noFill/>
        </p:spPr>
        <p:txBody>
          <a:bodyPr wrap="square">
            <a:spAutoFit/>
          </a:bodyPr>
          <a:lstStyle/>
          <a:p>
            <a:pPr algn="l"/>
            <a:r>
              <a:rPr sz="1200" b="0">
                <a:solidFill>
                  <a:srgbClr val="333333"/>
                </a:solidFill>
              </a:rPr>
              <a:t>✓  1 linked account</a:t>
            </a:r>
          </a:p>
        </p:txBody>
      </p:sp>
      <p:sp>
        <p:nvSpPr>
          <p:cNvPr id="11" name="TextBox 10"/>
          <p:cNvSpPr txBox="1"/>
          <p:nvPr/>
        </p:nvSpPr>
        <p:spPr>
          <a:xfrm>
            <a:off x="640080" y="3931920"/>
            <a:ext cx="3200400" cy="365760"/>
          </a:xfrm>
          <a:prstGeom prst="rect">
            <a:avLst/>
          </a:prstGeom>
          <a:noFill/>
        </p:spPr>
        <p:txBody>
          <a:bodyPr wrap="square">
            <a:spAutoFit/>
          </a:bodyPr>
          <a:lstStyle/>
          <a:p>
            <a:pPr algn="l"/>
            <a:r>
              <a:rPr sz="1200" b="0">
                <a:solidFill>
                  <a:srgbClr val="333333"/>
                </a:solidFill>
              </a:rPr>
              <a:t>✓  Standard chat</a:t>
            </a:r>
          </a:p>
        </p:txBody>
      </p:sp>
      <p:sp>
        <p:nvSpPr>
          <p:cNvPr id="12" name="Rectangle 11"/>
          <p:cNvSpPr/>
          <p:nvPr/>
        </p:nvSpPr>
        <p:spPr>
          <a:xfrm>
            <a:off x="4389120" y="1371600"/>
            <a:ext cx="3566160" cy="4937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371600"/>
            <a:ext cx="3566160" cy="91440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1417320"/>
            <a:ext cx="3566160" cy="457200"/>
          </a:xfrm>
          <a:prstGeom prst="rect">
            <a:avLst/>
          </a:prstGeom>
          <a:noFill/>
        </p:spPr>
        <p:txBody>
          <a:bodyPr wrap="square">
            <a:spAutoFit/>
          </a:bodyPr>
          <a:lstStyle/>
          <a:p>
            <a:pPr algn="ctr"/>
            <a:r>
              <a:rPr sz="1600" b="1">
                <a:solidFill>
                  <a:srgbClr val="FFFFFF"/>
                </a:solidFill>
              </a:rPr>
              <a:t>Light Plan</a:t>
            </a:r>
          </a:p>
        </p:txBody>
      </p:sp>
      <p:sp>
        <p:nvSpPr>
          <p:cNvPr id="15" name="TextBox 14"/>
          <p:cNvSpPr txBox="1"/>
          <p:nvPr/>
        </p:nvSpPr>
        <p:spPr>
          <a:xfrm>
            <a:off x="4389120" y="1920240"/>
            <a:ext cx="3566160" cy="457200"/>
          </a:xfrm>
          <a:prstGeom prst="rect">
            <a:avLst/>
          </a:prstGeom>
          <a:noFill/>
        </p:spPr>
        <p:txBody>
          <a:bodyPr wrap="square">
            <a:spAutoFit/>
          </a:bodyPr>
          <a:lstStyle/>
          <a:p>
            <a:pPr algn="ctr"/>
            <a:r>
              <a:rPr sz="1400" b="0">
                <a:solidFill>
                  <a:srgbClr val="FFFFFF"/>
                </a:solidFill>
              </a:rPr>
              <a:t>~1,200 THB/mo</a:t>
            </a:r>
          </a:p>
        </p:txBody>
      </p:sp>
      <p:sp>
        <p:nvSpPr>
          <p:cNvPr id="16" name="TextBox 15"/>
          <p:cNvSpPr txBox="1"/>
          <p:nvPr/>
        </p:nvSpPr>
        <p:spPr>
          <a:xfrm>
            <a:off x="4572000" y="2560320"/>
            <a:ext cx="3200400" cy="365760"/>
          </a:xfrm>
          <a:prstGeom prst="rect">
            <a:avLst/>
          </a:prstGeom>
          <a:noFill/>
        </p:spPr>
        <p:txBody>
          <a:bodyPr wrap="square">
            <a:spAutoFit/>
          </a:bodyPr>
          <a:lstStyle/>
          <a:p>
            <a:pPr algn="l"/>
            <a:r>
              <a:rPr sz="1200" b="0">
                <a:solidFill>
                  <a:srgbClr val="333333"/>
                </a:solidFill>
              </a:rPr>
              <a:t>✓  15,000 msgs/month</a:t>
            </a:r>
          </a:p>
        </p:txBody>
      </p:sp>
      <p:sp>
        <p:nvSpPr>
          <p:cNvPr id="17" name="TextBox 16"/>
          <p:cNvSpPr txBox="1"/>
          <p:nvPr/>
        </p:nvSpPr>
        <p:spPr>
          <a:xfrm>
            <a:off x="4572000" y="3017520"/>
            <a:ext cx="3200400" cy="365760"/>
          </a:xfrm>
          <a:prstGeom prst="rect">
            <a:avLst/>
          </a:prstGeom>
          <a:noFill/>
        </p:spPr>
        <p:txBody>
          <a:bodyPr wrap="square">
            <a:spAutoFit/>
          </a:bodyPr>
          <a:lstStyle/>
          <a:p>
            <a:pPr algn="l"/>
            <a:r>
              <a:rPr sz="1200" b="0">
                <a:solidFill>
                  <a:srgbClr val="333333"/>
                </a:solidFill>
              </a:rPr>
              <a:t>✓  Rich menu</a:t>
            </a:r>
          </a:p>
        </p:txBody>
      </p:sp>
      <p:sp>
        <p:nvSpPr>
          <p:cNvPr id="18" name="TextBox 17"/>
          <p:cNvSpPr txBox="1"/>
          <p:nvPr/>
        </p:nvSpPr>
        <p:spPr>
          <a:xfrm>
            <a:off x="4572000" y="3474720"/>
            <a:ext cx="3200400" cy="365760"/>
          </a:xfrm>
          <a:prstGeom prst="rect">
            <a:avLst/>
          </a:prstGeom>
          <a:noFill/>
        </p:spPr>
        <p:txBody>
          <a:bodyPr wrap="square">
            <a:spAutoFit/>
          </a:bodyPr>
          <a:lstStyle/>
          <a:p>
            <a:pPr algn="l"/>
            <a:r>
              <a:rPr sz="1200" b="0">
                <a:solidFill>
                  <a:srgbClr val="333333"/>
                </a:solidFill>
              </a:rPr>
              <a:t>✓  Multi-admin</a:t>
            </a:r>
          </a:p>
        </p:txBody>
      </p:sp>
      <p:sp>
        <p:nvSpPr>
          <p:cNvPr id="19" name="TextBox 18"/>
          <p:cNvSpPr txBox="1"/>
          <p:nvPr/>
        </p:nvSpPr>
        <p:spPr>
          <a:xfrm>
            <a:off x="4572000" y="3931920"/>
            <a:ext cx="3200400" cy="365760"/>
          </a:xfrm>
          <a:prstGeom prst="rect">
            <a:avLst/>
          </a:prstGeom>
          <a:noFill/>
        </p:spPr>
        <p:txBody>
          <a:bodyPr wrap="square">
            <a:spAutoFit/>
          </a:bodyPr>
          <a:lstStyle/>
          <a:p>
            <a:pPr algn="l"/>
            <a:r>
              <a:rPr sz="1200" b="0">
                <a:solidFill>
                  <a:srgbClr val="333333"/>
                </a:solidFill>
              </a:rPr>
              <a:t>✓  Analytics</a:t>
            </a:r>
          </a:p>
        </p:txBody>
      </p:sp>
      <p:sp>
        <p:nvSpPr>
          <p:cNvPr id="20" name="Rectangle 19"/>
          <p:cNvSpPr/>
          <p:nvPr/>
        </p:nvSpPr>
        <p:spPr>
          <a:xfrm>
            <a:off x="8321040" y="1371600"/>
            <a:ext cx="3566160" cy="4937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1040" y="1371600"/>
            <a:ext cx="3566160" cy="91440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1417320"/>
            <a:ext cx="3566160" cy="457200"/>
          </a:xfrm>
          <a:prstGeom prst="rect">
            <a:avLst/>
          </a:prstGeom>
          <a:noFill/>
        </p:spPr>
        <p:txBody>
          <a:bodyPr wrap="square">
            <a:spAutoFit/>
          </a:bodyPr>
          <a:lstStyle/>
          <a:p>
            <a:pPr algn="ctr"/>
            <a:r>
              <a:rPr sz="1600" b="1">
                <a:solidFill>
                  <a:srgbClr val="FFFFFF"/>
                </a:solidFill>
              </a:rPr>
              <a:t>Standard Plan</a:t>
            </a:r>
          </a:p>
        </p:txBody>
      </p:sp>
      <p:sp>
        <p:nvSpPr>
          <p:cNvPr id="23" name="TextBox 22"/>
          <p:cNvSpPr txBox="1"/>
          <p:nvPr/>
        </p:nvSpPr>
        <p:spPr>
          <a:xfrm>
            <a:off x="8321040" y="1920240"/>
            <a:ext cx="3566160" cy="457200"/>
          </a:xfrm>
          <a:prstGeom prst="rect">
            <a:avLst/>
          </a:prstGeom>
          <a:noFill/>
        </p:spPr>
        <p:txBody>
          <a:bodyPr wrap="square">
            <a:spAutoFit/>
          </a:bodyPr>
          <a:lstStyle/>
          <a:p>
            <a:pPr algn="ctr"/>
            <a:r>
              <a:rPr sz="1400" b="0">
                <a:solidFill>
                  <a:srgbClr val="FFFFFF"/>
                </a:solidFill>
              </a:rPr>
              <a:t>~3,900 THB/mo</a:t>
            </a:r>
          </a:p>
        </p:txBody>
      </p:sp>
      <p:sp>
        <p:nvSpPr>
          <p:cNvPr id="24" name="TextBox 23"/>
          <p:cNvSpPr txBox="1"/>
          <p:nvPr/>
        </p:nvSpPr>
        <p:spPr>
          <a:xfrm>
            <a:off x="8503919" y="2560320"/>
            <a:ext cx="3200400" cy="365760"/>
          </a:xfrm>
          <a:prstGeom prst="rect">
            <a:avLst/>
          </a:prstGeom>
          <a:noFill/>
        </p:spPr>
        <p:txBody>
          <a:bodyPr wrap="square">
            <a:spAutoFit/>
          </a:bodyPr>
          <a:lstStyle/>
          <a:p>
            <a:pPr algn="l"/>
            <a:r>
              <a:rPr sz="1200" b="0">
                <a:solidFill>
                  <a:srgbClr val="333333"/>
                </a:solidFill>
              </a:rPr>
              <a:t>✓  45,000 msgs/month</a:t>
            </a:r>
          </a:p>
        </p:txBody>
      </p:sp>
      <p:sp>
        <p:nvSpPr>
          <p:cNvPr id="25" name="TextBox 24"/>
          <p:cNvSpPr txBox="1"/>
          <p:nvPr/>
        </p:nvSpPr>
        <p:spPr>
          <a:xfrm>
            <a:off x="8503919" y="3017520"/>
            <a:ext cx="3200400" cy="365760"/>
          </a:xfrm>
          <a:prstGeom prst="rect">
            <a:avLst/>
          </a:prstGeom>
          <a:noFill/>
        </p:spPr>
        <p:txBody>
          <a:bodyPr wrap="square">
            <a:spAutoFit/>
          </a:bodyPr>
          <a:lstStyle/>
          <a:p>
            <a:pPr algn="l"/>
            <a:r>
              <a:rPr sz="1200" b="0">
                <a:solidFill>
                  <a:srgbClr val="333333"/>
                </a:solidFill>
              </a:rPr>
              <a:t>✓  All features</a:t>
            </a:r>
          </a:p>
        </p:txBody>
      </p:sp>
      <p:sp>
        <p:nvSpPr>
          <p:cNvPr id="26" name="TextBox 25"/>
          <p:cNvSpPr txBox="1"/>
          <p:nvPr/>
        </p:nvSpPr>
        <p:spPr>
          <a:xfrm>
            <a:off x="8503919" y="3474720"/>
            <a:ext cx="3200400" cy="365760"/>
          </a:xfrm>
          <a:prstGeom prst="rect">
            <a:avLst/>
          </a:prstGeom>
          <a:noFill/>
        </p:spPr>
        <p:txBody>
          <a:bodyPr wrap="square">
            <a:spAutoFit/>
          </a:bodyPr>
          <a:lstStyle/>
          <a:p>
            <a:pPr algn="l"/>
            <a:r>
              <a:rPr sz="1200" b="0">
                <a:solidFill>
                  <a:srgbClr val="333333"/>
                </a:solidFill>
              </a:rPr>
              <a:t>✓  API access</a:t>
            </a:r>
          </a:p>
        </p:txBody>
      </p:sp>
      <p:sp>
        <p:nvSpPr>
          <p:cNvPr id="27" name="TextBox 26"/>
          <p:cNvSpPr txBox="1"/>
          <p:nvPr/>
        </p:nvSpPr>
        <p:spPr>
          <a:xfrm>
            <a:off x="8503919" y="3931920"/>
            <a:ext cx="3200400" cy="365760"/>
          </a:xfrm>
          <a:prstGeom prst="rect">
            <a:avLst/>
          </a:prstGeom>
          <a:noFill/>
        </p:spPr>
        <p:txBody>
          <a:bodyPr wrap="square">
            <a:spAutoFit/>
          </a:bodyPr>
          <a:lstStyle/>
          <a:p>
            <a:pPr algn="l"/>
            <a:r>
              <a:rPr sz="1200" b="0">
                <a:solidFill>
                  <a:srgbClr val="333333"/>
                </a:solidFill>
              </a:rPr>
              <a:t>✓  Priority support</a:t>
            </a:r>
          </a:p>
        </p:txBody>
      </p:sp>
      <p:sp>
        <p:nvSpPr>
          <p:cNvPr id="28" name="TextBox 27"/>
          <p:cNvSpPr txBox="1"/>
          <p:nvPr/>
        </p:nvSpPr>
        <p:spPr>
          <a:xfrm>
            <a:off x="548640" y="6400800"/>
            <a:ext cx="10972800" cy="365760"/>
          </a:xfrm>
          <a:prstGeom prst="rect">
            <a:avLst/>
          </a:prstGeom>
          <a:noFill/>
        </p:spPr>
        <p:txBody>
          <a:bodyPr wrap="square">
            <a:spAutoFit/>
          </a:bodyPr>
          <a:lstStyle/>
          <a:p>
            <a:pPr algn="l"/>
            <a:r>
              <a:rPr sz="1000" b="0">
                <a:solidFill>
                  <a:srgbClr val="888888"/>
                </a:solidFill>
              </a:rPr>
              <a:t>* Pricing may vary. Visit line.biz for the latest rates.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6C755"/>
        </a:solidFill>
        <a:effectLst/>
      </p:bgPr>
    </p:bg>
    <p:spTree>
      <p:nvGrpSpPr>
        <p:cNvPr id="1" name=""/>
        <p:cNvGrpSpPr/>
        <p:nvPr/>
      </p:nvGrpSpPr>
      <p:grpSpPr/>
      <p:sp>
        <p:nvSpPr>
          <p:cNvPr id="2" name="Rectangle 1"/>
          <p:cNvSpPr/>
          <p:nvPr/>
        </p:nvSpPr>
        <p:spPr>
          <a:xfrm>
            <a:off x="0" y="5303520"/>
            <a:ext cx="12188952" cy="1554480"/>
          </a:xfrm>
          <a:prstGeom prst="rect">
            <a:avLst/>
          </a:prstGeom>
          <a:solidFill>
            <a:srgbClr val="00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1274552" cy="731520"/>
          </a:xfrm>
          <a:prstGeom prst="rect">
            <a:avLst/>
          </a:prstGeom>
          <a:noFill/>
        </p:spPr>
        <p:txBody>
          <a:bodyPr wrap="square">
            <a:spAutoFit/>
          </a:bodyPr>
          <a:lstStyle/>
          <a:p>
            <a:pPr algn="ctr"/>
            <a:r>
              <a:rPr sz="3400" b="1">
                <a:solidFill>
                  <a:srgbClr val="FFFFFF"/>
                </a:solidFill>
              </a:rPr>
              <a:t>Why Choose LINE OA?</a:t>
            </a:r>
          </a:p>
        </p:txBody>
      </p:sp>
      <p:sp>
        <p:nvSpPr>
          <p:cNvPr id="4" name="TextBox 3"/>
          <p:cNvSpPr txBox="1"/>
          <p:nvPr/>
        </p:nvSpPr>
        <p:spPr>
          <a:xfrm>
            <a:off x="1371600" y="1371600"/>
            <a:ext cx="9445752" cy="411480"/>
          </a:xfrm>
          <a:prstGeom prst="rect">
            <a:avLst/>
          </a:prstGeom>
          <a:noFill/>
        </p:spPr>
        <p:txBody>
          <a:bodyPr wrap="square">
            <a:spAutoFit/>
          </a:bodyPr>
          <a:lstStyle/>
          <a:p>
            <a:pPr algn="l"/>
            <a:r>
              <a:rPr sz="1500" b="0">
                <a:solidFill>
                  <a:srgbClr val="FFFFFF"/>
                </a:solidFill>
              </a:rPr>
              <a:t>✔  Reach Thailand's #1 messaging platform with 90M+ users</a:t>
            </a:r>
          </a:p>
        </p:txBody>
      </p:sp>
      <p:sp>
        <p:nvSpPr>
          <p:cNvPr id="5" name="TextBox 4"/>
          <p:cNvSpPr txBox="1"/>
          <p:nvPr/>
        </p:nvSpPr>
        <p:spPr>
          <a:xfrm>
            <a:off x="1371600" y="1874519"/>
            <a:ext cx="9445752" cy="411480"/>
          </a:xfrm>
          <a:prstGeom prst="rect">
            <a:avLst/>
          </a:prstGeom>
          <a:noFill/>
        </p:spPr>
        <p:txBody>
          <a:bodyPr wrap="square">
            <a:spAutoFit/>
          </a:bodyPr>
          <a:lstStyle/>
          <a:p>
            <a:pPr algn="l"/>
            <a:r>
              <a:rPr sz="1500" b="0">
                <a:solidFill>
                  <a:srgbClr val="FFFFFF"/>
                </a:solidFill>
              </a:rPr>
              <a:t>✔  Drive sales with coupons, rewards, and in-chat shopping</a:t>
            </a:r>
          </a:p>
        </p:txBody>
      </p:sp>
      <p:sp>
        <p:nvSpPr>
          <p:cNvPr id="6" name="TextBox 5"/>
          <p:cNvSpPr txBox="1"/>
          <p:nvPr/>
        </p:nvSpPr>
        <p:spPr>
          <a:xfrm>
            <a:off x="1371600" y="2377439"/>
            <a:ext cx="9445752" cy="411480"/>
          </a:xfrm>
          <a:prstGeom prst="rect">
            <a:avLst/>
          </a:prstGeom>
          <a:noFill/>
        </p:spPr>
        <p:txBody>
          <a:bodyPr wrap="square">
            <a:spAutoFit/>
          </a:bodyPr>
          <a:lstStyle/>
          <a:p>
            <a:pPr algn="l"/>
            <a:r>
              <a:rPr sz="1500" b="0">
                <a:solidFill>
                  <a:srgbClr val="FFFFFF"/>
                </a:solidFill>
              </a:rPr>
              <a:t>✔  Automate customer support with chatbots and auto-replies</a:t>
            </a:r>
          </a:p>
        </p:txBody>
      </p:sp>
      <p:sp>
        <p:nvSpPr>
          <p:cNvPr id="7" name="TextBox 6"/>
          <p:cNvSpPr txBox="1"/>
          <p:nvPr/>
        </p:nvSpPr>
        <p:spPr>
          <a:xfrm>
            <a:off x="1371600" y="2880359"/>
            <a:ext cx="9445752" cy="411480"/>
          </a:xfrm>
          <a:prstGeom prst="rect">
            <a:avLst/>
          </a:prstGeom>
          <a:noFill/>
        </p:spPr>
        <p:txBody>
          <a:bodyPr wrap="square">
            <a:spAutoFit/>
          </a:bodyPr>
          <a:lstStyle/>
          <a:p>
            <a:pPr algn="l"/>
            <a:r>
              <a:rPr sz="1500" b="0">
                <a:solidFill>
                  <a:srgbClr val="FFFFFF"/>
                </a:solidFill>
              </a:rPr>
              <a:t>✔  Gain insights with powerful analytics and reporting tools</a:t>
            </a:r>
          </a:p>
        </p:txBody>
      </p:sp>
      <p:sp>
        <p:nvSpPr>
          <p:cNvPr id="8" name="TextBox 7"/>
          <p:cNvSpPr txBox="1"/>
          <p:nvPr/>
        </p:nvSpPr>
        <p:spPr>
          <a:xfrm>
            <a:off x="1371600" y="3383279"/>
            <a:ext cx="9445752" cy="411480"/>
          </a:xfrm>
          <a:prstGeom prst="rect">
            <a:avLst/>
          </a:prstGeom>
          <a:noFill/>
        </p:spPr>
        <p:txBody>
          <a:bodyPr wrap="square">
            <a:spAutoFit/>
          </a:bodyPr>
          <a:lstStyle/>
          <a:p>
            <a:pPr algn="l"/>
            <a:r>
              <a:rPr sz="1500" b="0">
                <a:solidFill>
                  <a:srgbClr val="FFFFFF"/>
                </a:solidFill>
              </a:rPr>
              <a:t>✔  Integrate seamlessly with your existing business systems</a:t>
            </a:r>
          </a:p>
        </p:txBody>
      </p:sp>
      <p:sp>
        <p:nvSpPr>
          <p:cNvPr id="9" name="TextBox 8"/>
          <p:cNvSpPr txBox="1"/>
          <p:nvPr/>
        </p:nvSpPr>
        <p:spPr>
          <a:xfrm>
            <a:off x="457200" y="4480560"/>
            <a:ext cx="11274552" cy="548640"/>
          </a:xfrm>
          <a:prstGeom prst="rect">
            <a:avLst/>
          </a:prstGeom>
          <a:noFill/>
        </p:spPr>
        <p:txBody>
          <a:bodyPr wrap="square">
            <a:spAutoFit/>
          </a:bodyPr>
          <a:lstStyle/>
          <a:p>
            <a:pPr algn="ctr"/>
            <a:r>
              <a:rPr sz="2000" b="1">
                <a:solidFill>
                  <a:srgbClr val="FFFFFF"/>
                </a:solidFill>
              </a:rPr>
              <a:t>Get Started Today at line.biz</a:t>
            </a:r>
          </a:p>
        </p:txBody>
      </p:sp>
      <p:sp>
        <p:nvSpPr>
          <p:cNvPr id="10" name="TextBox 9"/>
          <p:cNvSpPr txBox="1"/>
          <p:nvPr/>
        </p:nvSpPr>
        <p:spPr>
          <a:xfrm>
            <a:off x="457200" y="5577840"/>
            <a:ext cx="11274552" cy="457200"/>
          </a:xfrm>
          <a:prstGeom prst="rect">
            <a:avLst/>
          </a:prstGeom>
          <a:noFill/>
        </p:spPr>
        <p:txBody>
          <a:bodyPr wrap="square">
            <a:spAutoFit/>
          </a:bodyPr>
          <a:lstStyle/>
          <a:p>
            <a:pPr algn="ctr"/>
            <a:r>
              <a:rPr sz="1200" b="0">
                <a:solidFill>
                  <a:srgbClr val="FFFFFF"/>
                </a:solidFill>
              </a:rPr>
              <a:t>WhiteWings  |  LINE OA Solutions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