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1A1A"/>
        </a:solidFill>
        <a:effectLst/>
      </p:bgPr>
    </p:bg>
    <p:spTree>
      <p:nvGrpSpPr>
        <p:cNvPr id="1" name=""/>
        <p:cNvGrpSpPr/>
        <p:nvPr/>
      </p:nvGrpSpPr>
      <p:grpSpPr/>
      <p:sp>
        <p:nvSpPr>
          <p:cNvPr id="2" name="Rectangle 1"/>
          <p:cNvSpPr/>
          <p:nvPr/>
        </p:nvSpPr>
        <p:spPr>
          <a:xfrm>
            <a:off x="0" y="0"/>
            <a:ext cx="4389120" cy="6858000"/>
          </a:xfrm>
          <a:prstGeom prst="rect">
            <a:avLst/>
          </a:prstGeom>
          <a:solidFill>
            <a:srgbClr val="E200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389120" y="0"/>
            <a:ext cx="7799831"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389120" y="0"/>
            <a:ext cx="7799831" cy="109728"/>
          </a:xfrm>
          <a:prstGeom prst="rect">
            <a:avLst/>
          </a:prstGeom>
          <a:solidFill>
            <a:srgbClr val="E200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11480" y="411480"/>
            <a:ext cx="1280160" cy="12801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566928"/>
            <a:ext cx="1280160" cy="731520"/>
          </a:xfrm>
          <a:prstGeom prst="rect">
            <a:avLst/>
          </a:prstGeom>
          <a:noFill/>
        </p:spPr>
        <p:txBody>
          <a:bodyPr wrap="square">
            <a:spAutoFit/>
          </a:bodyPr>
          <a:lstStyle/>
          <a:p>
            <a:pPr algn="ctr"/>
            <a:r>
              <a:rPr sz="2200" b="1">
                <a:solidFill>
                  <a:srgbClr val="E20015"/>
                </a:solidFill>
                <a:latin typeface="Arial"/>
              </a:rPr>
              <a:t>BOSCH</a:t>
            </a:r>
          </a:p>
        </p:txBody>
      </p:sp>
      <p:sp>
        <p:nvSpPr>
          <p:cNvPr id="7" name="TextBox 6"/>
          <p:cNvSpPr txBox="1"/>
          <p:nvPr/>
        </p:nvSpPr>
        <p:spPr>
          <a:xfrm>
            <a:off x="274320" y="2011680"/>
            <a:ext cx="3657600" cy="1097280"/>
          </a:xfrm>
          <a:prstGeom prst="rect">
            <a:avLst/>
          </a:prstGeom>
          <a:noFill/>
        </p:spPr>
        <p:txBody>
          <a:bodyPr wrap="square">
            <a:spAutoFit/>
          </a:bodyPr>
          <a:lstStyle/>
          <a:p>
            <a:pPr algn="l"/>
            <a:r>
              <a:rPr sz="1300" b="1">
                <a:solidFill>
                  <a:srgbClr val="FFFFFF"/>
                </a:solidFill>
                <a:latin typeface="Arial"/>
              </a:rPr>
              <a:t>TECHNOLOGY
FOR BUSINESS</a:t>
            </a:r>
          </a:p>
        </p:txBody>
      </p:sp>
      <p:sp>
        <p:nvSpPr>
          <p:cNvPr id="8" name="Rectangle 7"/>
          <p:cNvSpPr/>
          <p:nvPr/>
        </p:nvSpPr>
        <p:spPr>
          <a:xfrm>
            <a:off x="274320" y="3246120"/>
            <a:ext cx="3474720" cy="548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 y="3429000"/>
            <a:ext cx="3657600" cy="457200"/>
          </a:xfrm>
          <a:prstGeom prst="rect">
            <a:avLst/>
          </a:prstGeom>
          <a:noFill/>
        </p:spPr>
        <p:txBody>
          <a:bodyPr wrap="square">
            <a:spAutoFit/>
          </a:bodyPr>
          <a:lstStyle/>
          <a:p>
            <a:pPr algn="l"/>
            <a:r>
              <a:rPr sz="1100" b="0">
                <a:solidFill>
                  <a:srgbClr val="FFCCCC"/>
                </a:solidFill>
                <a:latin typeface="Arial"/>
              </a:rPr>
              <a:t>WhiteWings</a:t>
            </a:r>
          </a:p>
        </p:txBody>
      </p:sp>
      <p:sp>
        <p:nvSpPr>
          <p:cNvPr id="10" name="TextBox 9"/>
          <p:cNvSpPr txBox="1"/>
          <p:nvPr/>
        </p:nvSpPr>
        <p:spPr>
          <a:xfrm>
            <a:off x="4754880" y="1005840"/>
            <a:ext cx="7040880" cy="2011680"/>
          </a:xfrm>
          <a:prstGeom prst="rect">
            <a:avLst/>
          </a:prstGeom>
          <a:noFill/>
        </p:spPr>
        <p:txBody>
          <a:bodyPr wrap="square">
            <a:spAutoFit/>
          </a:bodyPr>
          <a:lstStyle/>
          <a:p>
            <a:pPr algn="l"/>
            <a:r>
              <a:rPr sz="4000" b="1">
                <a:solidFill>
                  <a:srgbClr val="1A1A1A"/>
                </a:solidFill>
                <a:latin typeface="Arial"/>
              </a:rPr>
              <a:t>LINE Official
Account</a:t>
            </a:r>
          </a:p>
        </p:txBody>
      </p:sp>
      <p:sp>
        <p:nvSpPr>
          <p:cNvPr id="11" name="Rectangle 10"/>
          <p:cNvSpPr/>
          <p:nvPr/>
        </p:nvSpPr>
        <p:spPr>
          <a:xfrm>
            <a:off x="4754880" y="3063240"/>
            <a:ext cx="5029200" cy="91440"/>
          </a:xfrm>
          <a:prstGeom prst="rect">
            <a:avLst/>
          </a:prstGeom>
          <a:solidFill>
            <a:srgbClr val="E200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0" y="3291840"/>
            <a:ext cx="7040880" cy="640080"/>
          </a:xfrm>
          <a:prstGeom prst="rect">
            <a:avLst/>
          </a:prstGeom>
          <a:noFill/>
        </p:spPr>
        <p:txBody>
          <a:bodyPr wrap="square">
            <a:spAutoFit/>
          </a:bodyPr>
          <a:lstStyle/>
          <a:p>
            <a:pPr algn="l"/>
            <a:r>
              <a:rPr sz="2200" b="0">
                <a:solidFill>
                  <a:srgbClr val="4A4A4A"/>
                </a:solidFill>
                <a:latin typeface="Arial"/>
              </a:rPr>
              <a:t>(LINE OA) Benefits</a:t>
            </a:r>
          </a:p>
        </p:txBody>
      </p:sp>
      <p:sp>
        <p:nvSpPr>
          <p:cNvPr id="13" name="TextBox 12"/>
          <p:cNvSpPr txBox="1"/>
          <p:nvPr/>
        </p:nvSpPr>
        <p:spPr>
          <a:xfrm>
            <a:off x="4754880" y="4114800"/>
            <a:ext cx="7040880" cy="731520"/>
          </a:xfrm>
          <a:prstGeom prst="rect">
            <a:avLst/>
          </a:prstGeom>
          <a:noFill/>
        </p:spPr>
        <p:txBody>
          <a:bodyPr wrap="square">
            <a:spAutoFit/>
          </a:bodyPr>
          <a:lstStyle/>
          <a:p>
            <a:pPr algn="l"/>
            <a:r>
              <a:rPr sz="1300" b="0">
                <a:solidFill>
                  <a:srgbClr val="767676"/>
                </a:solidFill>
                <a:latin typeface="Arial"/>
              </a:rPr>
              <a:t>Unlock the Power of Business Communication on LINE</a:t>
            </a:r>
          </a:p>
        </p:txBody>
      </p:sp>
      <p:sp>
        <p:nvSpPr>
          <p:cNvPr id="14" name="Rectangle 13"/>
          <p:cNvSpPr/>
          <p:nvPr/>
        </p:nvSpPr>
        <p:spPr>
          <a:xfrm>
            <a:off x="4389120" y="6309360"/>
            <a:ext cx="7799831" cy="54864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0" y="6400800"/>
            <a:ext cx="7315200" cy="365760"/>
          </a:xfrm>
          <a:prstGeom prst="rect">
            <a:avLst/>
          </a:prstGeom>
          <a:noFill/>
        </p:spPr>
        <p:txBody>
          <a:bodyPr wrap="square">
            <a:spAutoFit/>
          </a:bodyPr>
          <a:lstStyle/>
          <a:p>
            <a:pPr algn="l"/>
            <a:r>
              <a:rPr sz="1000" b="0">
                <a:solidFill>
                  <a:srgbClr val="767676"/>
                </a:solidFill>
                <a:latin typeface="Arial"/>
              </a:rPr>
              <a:t>2026  |  Confidential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E200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12024360" cy="105156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789920" y="164592"/>
            <a:ext cx="713232" cy="713232"/>
          </a:xfrm>
          <a:prstGeom prst="rect">
            <a:avLst/>
          </a:prstGeom>
          <a:solidFill>
            <a:srgbClr val="E200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744200" y="201168"/>
            <a:ext cx="822960" cy="548640"/>
          </a:xfrm>
          <a:prstGeom prst="rect">
            <a:avLst/>
          </a:prstGeom>
          <a:noFill/>
        </p:spPr>
        <p:txBody>
          <a:bodyPr wrap="square">
            <a:spAutoFit/>
          </a:bodyPr>
          <a:lstStyle/>
          <a:p>
            <a:pPr algn="ctr"/>
            <a:r>
              <a:rPr sz="700" b="1">
                <a:solidFill>
                  <a:srgbClr val="FFFFFF"/>
                </a:solidFill>
                <a:latin typeface="Arial"/>
              </a:rPr>
              <a:t>BOSCH</a:t>
            </a:r>
          </a:p>
        </p:txBody>
      </p:sp>
      <p:sp>
        <p:nvSpPr>
          <p:cNvPr id="6" name="TextBox 5"/>
          <p:cNvSpPr txBox="1"/>
          <p:nvPr/>
        </p:nvSpPr>
        <p:spPr>
          <a:xfrm>
            <a:off x="457200" y="182880"/>
            <a:ext cx="10058400" cy="685800"/>
          </a:xfrm>
          <a:prstGeom prst="rect">
            <a:avLst/>
          </a:prstGeom>
          <a:noFill/>
        </p:spPr>
        <p:txBody>
          <a:bodyPr wrap="square">
            <a:spAutoFit/>
          </a:bodyPr>
          <a:lstStyle/>
          <a:p>
            <a:pPr algn="l"/>
            <a:r>
              <a:rPr sz="2400" b="1">
                <a:solidFill>
                  <a:srgbClr val="FFFFFF"/>
                </a:solidFill>
                <a:latin typeface="Arial"/>
              </a:rPr>
              <a:t>What is LINE Official Account?</a:t>
            </a:r>
          </a:p>
        </p:txBody>
      </p:sp>
      <p:sp>
        <p:nvSpPr>
          <p:cNvPr id="7" name="Rectangle 6"/>
          <p:cNvSpPr/>
          <p:nvPr/>
        </p:nvSpPr>
        <p:spPr>
          <a:xfrm>
            <a:off x="164592" y="1051560"/>
            <a:ext cx="12024360" cy="54864"/>
          </a:xfrm>
          <a:prstGeom prst="rect">
            <a:avLst/>
          </a:prstGeom>
          <a:solidFill>
            <a:srgbClr val="E200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64592" y="6492240"/>
            <a:ext cx="12024360" cy="36576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6510528"/>
            <a:ext cx="11612880" cy="274320"/>
          </a:xfrm>
          <a:prstGeom prst="rect">
            <a:avLst/>
          </a:prstGeom>
          <a:noFill/>
        </p:spPr>
        <p:txBody>
          <a:bodyPr wrap="square">
            <a:spAutoFit/>
          </a:bodyPr>
          <a:lstStyle/>
          <a:p>
            <a:pPr algn="l"/>
            <a:r>
              <a:rPr sz="900" b="0">
                <a:solidFill>
                  <a:srgbClr val="767676"/>
                </a:solidFill>
                <a:latin typeface="Arial"/>
              </a:rPr>
              <a:t>WhiteWings  |  LINE OA Solutions  |  2026</a:t>
            </a:r>
          </a:p>
        </p:txBody>
      </p:sp>
      <p:sp>
        <p:nvSpPr>
          <p:cNvPr id="10" name="TextBox 9"/>
          <p:cNvSpPr txBox="1"/>
          <p:nvPr/>
        </p:nvSpPr>
        <p:spPr>
          <a:xfrm>
            <a:off x="365760" y="1234440"/>
            <a:ext cx="11430000" cy="1188720"/>
          </a:xfrm>
          <a:prstGeom prst="rect">
            <a:avLst/>
          </a:prstGeom>
          <a:noFill/>
        </p:spPr>
        <p:txBody>
          <a:bodyPr wrap="square">
            <a:spAutoFit/>
          </a:bodyPr>
          <a:lstStyle/>
          <a:p>
            <a:pPr algn="l"/>
            <a:r>
              <a:rPr sz="1300" b="0">
                <a:solidFill>
                  <a:srgbClr val="4A4A4A"/>
                </a:solidFill>
                <a:latin typeface="Arial"/>
              </a:rPr>
              <a:t>LINE Official Account (LINE OA) is a business account on the LINE messaging platform that enables companies, brands, and organizations to communicate directly with their customers at scale. With over 90 million active users in Thailand alone, LINE OA provides an unparalleled channel to reach, engage, and convert your audience.</a:t>
            </a:r>
          </a:p>
        </p:txBody>
      </p:sp>
      <p:sp>
        <p:nvSpPr>
          <p:cNvPr id="11" name="Rectangle 10"/>
          <p:cNvSpPr/>
          <p:nvPr/>
        </p:nvSpPr>
        <p:spPr>
          <a:xfrm>
            <a:off x="320040" y="2651760"/>
            <a:ext cx="2697480" cy="265176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20040" y="2651760"/>
            <a:ext cx="2697480" cy="109728"/>
          </a:xfrm>
          <a:prstGeom prst="rect">
            <a:avLst/>
          </a:prstGeom>
          <a:solidFill>
            <a:srgbClr val="E200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2880360"/>
            <a:ext cx="2697480" cy="914400"/>
          </a:xfrm>
          <a:prstGeom prst="rect">
            <a:avLst/>
          </a:prstGeom>
          <a:noFill/>
        </p:spPr>
        <p:txBody>
          <a:bodyPr wrap="square">
            <a:spAutoFit/>
          </a:bodyPr>
          <a:lstStyle/>
          <a:p>
            <a:pPr algn="ctr"/>
            <a:r>
              <a:rPr sz="3200" b="1">
                <a:solidFill>
                  <a:srgbClr val="E20015"/>
                </a:solidFill>
                <a:latin typeface="Arial"/>
              </a:rPr>
              <a:t>200M+</a:t>
            </a:r>
          </a:p>
        </p:txBody>
      </p:sp>
      <p:sp>
        <p:nvSpPr>
          <p:cNvPr id="14" name="TextBox 13"/>
          <p:cNvSpPr txBox="1"/>
          <p:nvPr/>
        </p:nvSpPr>
        <p:spPr>
          <a:xfrm>
            <a:off x="320040" y="3840480"/>
            <a:ext cx="2697480" cy="822960"/>
          </a:xfrm>
          <a:prstGeom prst="rect">
            <a:avLst/>
          </a:prstGeom>
          <a:noFill/>
        </p:spPr>
        <p:txBody>
          <a:bodyPr wrap="square">
            <a:spAutoFit/>
          </a:bodyPr>
          <a:lstStyle/>
          <a:p>
            <a:pPr algn="ctr"/>
            <a:r>
              <a:rPr sz="1100" b="0">
                <a:solidFill>
                  <a:srgbClr val="4A4A4A"/>
                </a:solidFill>
                <a:latin typeface="Arial"/>
              </a:rPr>
              <a:t>Monthly Active
Users (Global)</a:t>
            </a:r>
          </a:p>
        </p:txBody>
      </p:sp>
      <p:sp>
        <p:nvSpPr>
          <p:cNvPr id="15" name="Rectangle 14"/>
          <p:cNvSpPr/>
          <p:nvPr/>
        </p:nvSpPr>
        <p:spPr>
          <a:xfrm>
            <a:off x="3291840" y="2651760"/>
            <a:ext cx="2697480" cy="265176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91840" y="2651760"/>
            <a:ext cx="2697480" cy="109728"/>
          </a:xfrm>
          <a:prstGeom prst="rect">
            <a:avLst/>
          </a:prstGeom>
          <a:solidFill>
            <a:srgbClr val="E200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91840" y="2880360"/>
            <a:ext cx="2697480" cy="914400"/>
          </a:xfrm>
          <a:prstGeom prst="rect">
            <a:avLst/>
          </a:prstGeom>
          <a:noFill/>
        </p:spPr>
        <p:txBody>
          <a:bodyPr wrap="square">
            <a:spAutoFit/>
          </a:bodyPr>
          <a:lstStyle/>
          <a:p>
            <a:pPr algn="ctr"/>
            <a:r>
              <a:rPr sz="3200" b="1">
                <a:solidFill>
                  <a:srgbClr val="E20015"/>
                </a:solidFill>
                <a:latin typeface="Arial"/>
              </a:rPr>
              <a:t>90M+</a:t>
            </a:r>
          </a:p>
        </p:txBody>
      </p:sp>
      <p:sp>
        <p:nvSpPr>
          <p:cNvPr id="18" name="TextBox 17"/>
          <p:cNvSpPr txBox="1"/>
          <p:nvPr/>
        </p:nvSpPr>
        <p:spPr>
          <a:xfrm>
            <a:off x="3291840" y="3840480"/>
            <a:ext cx="2697480" cy="822960"/>
          </a:xfrm>
          <a:prstGeom prst="rect">
            <a:avLst/>
          </a:prstGeom>
          <a:noFill/>
        </p:spPr>
        <p:txBody>
          <a:bodyPr wrap="square">
            <a:spAutoFit/>
          </a:bodyPr>
          <a:lstStyle/>
          <a:p>
            <a:pPr algn="ctr"/>
            <a:r>
              <a:rPr sz="1100" b="0">
                <a:solidFill>
                  <a:srgbClr val="4A4A4A"/>
                </a:solidFill>
                <a:latin typeface="Arial"/>
              </a:rPr>
              <a:t>Users in
Thailand</a:t>
            </a:r>
          </a:p>
        </p:txBody>
      </p:sp>
      <p:sp>
        <p:nvSpPr>
          <p:cNvPr id="19" name="Rectangle 18"/>
          <p:cNvSpPr/>
          <p:nvPr/>
        </p:nvSpPr>
        <p:spPr>
          <a:xfrm>
            <a:off x="6263640" y="2651760"/>
            <a:ext cx="2697480" cy="265176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63640" y="2651760"/>
            <a:ext cx="2697480" cy="109728"/>
          </a:xfrm>
          <a:prstGeom prst="rect">
            <a:avLst/>
          </a:prstGeom>
          <a:solidFill>
            <a:srgbClr val="E200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63640" y="2880360"/>
            <a:ext cx="2697480" cy="914400"/>
          </a:xfrm>
          <a:prstGeom prst="rect">
            <a:avLst/>
          </a:prstGeom>
          <a:noFill/>
        </p:spPr>
        <p:txBody>
          <a:bodyPr wrap="square">
            <a:spAutoFit/>
          </a:bodyPr>
          <a:lstStyle/>
          <a:p>
            <a:pPr algn="ctr"/>
            <a:r>
              <a:rPr sz="3200" b="1">
                <a:solidFill>
                  <a:srgbClr val="E20015"/>
                </a:solidFill>
                <a:latin typeface="Arial"/>
              </a:rPr>
              <a:t>#1</a:t>
            </a:r>
          </a:p>
        </p:txBody>
      </p:sp>
      <p:sp>
        <p:nvSpPr>
          <p:cNvPr id="22" name="TextBox 21"/>
          <p:cNvSpPr txBox="1"/>
          <p:nvPr/>
        </p:nvSpPr>
        <p:spPr>
          <a:xfrm>
            <a:off x="6263640" y="3840480"/>
            <a:ext cx="2697480" cy="822960"/>
          </a:xfrm>
          <a:prstGeom prst="rect">
            <a:avLst/>
          </a:prstGeom>
          <a:noFill/>
        </p:spPr>
        <p:txBody>
          <a:bodyPr wrap="square">
            <a:spAutoFit/>
          </a:bodyPr>
          <a:lstStyle/>
          <a:p>
            <a:pPr algn="ctr"/>
            <a:r>
              <a:rPr sz="1100" b="0">
                <a:solidFill>
                  <a:srgbClr val="4A4A4A"/>
                </a:solidFill>
                <a:latin typeface="Arial"/>
              </a:rPr>
              <a:t>Messaging App
in Thailand</a:t>
            </a:r>
          </a:p>
        </p:txBody>
      </p:sp>
      <p:sp>
        <p:nvSpPr>
          <p:cNvPr id="23" name="Rectangle 22"/>
          <p:cNvSpPr/>
          <p:nvPr/>
        </p:nvSpPr>
        <p:spPr>
          <a:xfrm>
            <a:off x="9235440" y="2651760"/>
            <a:ext cx="2697480" cy="265176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235440" y="2651760"/>
            <a:ext cx="2697480" cy="109728"/>
          </a:xfrm>
          <a:prstGeom prst="rect">
            <a:avLst/>
          </a:prstGeom>
          <a:solidFill>
            <a:srgbClr val="E200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235440" y="2880360"/>
            <a:ext cx="2697480" cy="914400"/>
          </a:xfrm>
          <a:prstGeom prst="rect">
            <a:avLst/>
          </a:prstGeom>
          <a:noFill/>
        </p:spPr>
        <p:txBody>
          <a:bodyPr wrap="square">
            <a:spAutoFit/>
          </a:bodyPr>
          <a:lstStyle/>
          <a:p>
            <a:pPr algn="ctr"/>
            <a:r>
              <a:rPr sz="3200" b="1">
                <a:solidFill>
                  <a:srgbClr val="E20015"/>
                </a:solidFill>
                <a:latin typeface="Arial"/>
              </a:rPr>
              <a:t>94%</a:t>
            </a:r>
          </a:p>
        </p:txBody>
      </p:sp>
      <p:sp>
        <p:nvSpPr>
          <p:cNvPr id="26" name="TextBox 25"/>
          <p:cNvSpPr txBox="1"/>
          <p:nvPr/>
        </p:nvSpPr>
        <p:spPr>
          <a:xfrm>
            <a:off x="9235440" y="3840480"/>
            <a:ext cx="2697480" cy="822960"/>
          </a:xfrm>
          <a:prstGeom prst="rect">
            <a:avLst/>
          </a:prstGeom>
          <a:noFill/>
        </p:spPr>
        <p:txBody>
          <a:bodyPr wrap="square">
            <a:spAutoFit/>
          </a:bodyPr>
          <a:lstStyle/>
          <a:p>
            <a:pPr algn="ctr"/>
            <a:r>
              <a:rPr sz="1100" b="0">
                <a:solidFill>
                  <a:srgbClr val="4A4A4A"/>
                </a:solidFill>
                <a:latin typeface="Arial"/>
              </a:rPr>
              <a:t>Market
Penetration</a:t>
            </a:r>
          </a:p>
        </p:txBody>
      </p:sp>
      <p:sp>
        <p:nvSpPr>
          <p:cNvPr id="27" name="TextBox 26"/>
          <p:cNvSpPr txBox="1"/>
          <p:nvPr/>
        </p:nvSpPr>
        <p:spPr>
          <a:xfrm>
            <a:off x="365760" y="5532120"/>
            <a:ext cx="10972800" cy="320040"/>
          </a:xfrm>
          <a:prstGeom prst="rect">
            <a:avLst/>
          </a:prstGeom>
          <a:noFill/>
        </p:spPr>
        <p:txBody>
          <a:bodyPr wrap="square">
            <a:spAutoFit/>
          </a:bodyPr>
          <a:lstStyle/>
          <a:p>
            <a:pPr algn="l"/>
            <a:r>
              <a:rPr sz="900" b="0">
                <a:solidFill>
                  <a:srgbClr val="767676"/>
                </a:solidFill>
                <a:latin typeface="Arial"/>
              </a:rPr>
              <a:t>Source: LINE Corporation, 2024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E200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12024360" cy="105156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789920" y="164592"/>
            <a:ext cx="713232" cy="713232"/>
          </a:xfrm>
          <a:prstGeom prst="rect">
            <a:avLst/>
          </a:prstGeom>
          <a:solidFill>
            <a:srgbClr val="E200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744200" y="201168"/>
            <a:ext cx="822960" cy="548640"/>
          </a:xfrm>
          <a:prstGeom prst="rect">
            <a:avLst/>
          </a:prstGeom>
          <a:noFill/>
        </p:spPr>
        <p:txBody>
          <a:bodyPr wrap="square">
            <a:spAutoFit/>
          </a:bodyPr>
          <a:lstStyle/>
          <a:p>
            <a:pPr algn="ctr"/>
            <a:r>
              <a:rPr sz="700" b="1">
                <a:solidFill>
                  <a:srgbClr val="FFFFFF"/>
                </a:solidFill>
                <a:latin typeface="Arial"/>
              </a:rPr>
              <a:t>BOSCH</a:t>
            </a:r>
          </a:p>
        </p:txBody>
      </p:sp>
      <p:sp>
        <p:nvSpPr>
          <p:cNvPr id="6" name="TextBox 5"/>
          <p:cNvSpPr txBox="1"/>
          <p:nvPr/>
        </p:nvSpPr>
        <p:spPr>
          <a:xfrm>
            <a:off x="457200" y="182880"/>
            <a:ext cx="10058400" cy="685800"/>
          </a:xfrm>
          <a:prstGeom prst="rect">
            <a:avLst/>
          </a:prstGeom>
          <a:noFill/>
        </p:spPr>
        <p:txBody>
          <a:bodyPr wrap="square">
            <a:spAutoFit/>
          </a:bodyPr>
          <a:lstStyle/>
          <a:p>
            <a:pPr algn="l"/>
            <a:r>
              <a:rPr sz="2400" b="1">
                <a:solidFill>
                  <a:srgbClr val="FFFFFF"/>
                </a:solidFill>
                <a:latin typeface="Arial"/>
              </a:rPr>
              <a:t>Core Benefits of LINE OA</a:t>
            </a:r>
          </a:p>
        </p:txBody>
      </p:sp>
      <p:sp>
        <p:nvSpPr>
          <p:cNvPr id="7" name="Rectangle 6"/>
          <p:cNvSpPr/>
          <p:nvPr/>
        </p:nvSpPr>
        <p:spPr>
          <a:xfrm>
            <a:off x="164592" y="1051560"/>
            <a:ext cx="12024360" cy="54864"/>
          </a:xfrm>
          <a:prstGeom prst="rect">
            <a:avLst/>
          </a:prstGeom>
          <a:solidFill>
            <a:srgbClr val="E200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64592" y="6492240"/>
            <a:ext cx="12024360" cy="36576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6510528"/>
            <a:ext cx="11612880" cy="274320"/>
          </a:xfrm>
          <a:prstGeom prst="rect">
            <a:avLst/>
          </a:prstGeom>
          <a:noFill/>
        </p:spPr>
        <p:txBody>
          <a:bodyPr wrap="square">
            <a:spAutoFit/>
          </a:bodyPr>
          <a:lstStyle/>
          <a:p>
            <a:pPr algn="l"/>
            <a:r>
              <a:rPr sz="900" b="0">
                <a:solidFill>
                  <a:srgbClr val="767676"/>
                </a:solidFill>
                <a:latin typeface="Arial"/>
              </a:rPr>
              <a:t>WhiteWings  |  LINE OA Solutions  |  2026</a:t>
            </a:r>
          </a:p>
        </p:txBody>
      </p:sp>
      <p:sp>
        <p:nvSpPr>
          <p:cNvPr id="10" name="Rectangle 9"/>
          <p:cNvSpPr/>
          <p:nvPr/>
        </p:nvSpPr>
        <p:spPr>
          <a:xfrm>
            <a:off x="320040" y="1298448"/>
            <a:ext cx="384048" cy="384048"/>
          </a:xfrm>
          <a:prstGeom prst="rect">
            <a:avLst/>
          </a:prstGeom>
          <a:solidFill>
            <a:srgbClr val="E200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0040" y="1316736"/>
            <a:ext cx="384048" cy="347472"/>
          </a:xfrm>
          <a:prstGeom prst="rect">
            <a:avLst/>
          </a:prstGeom>
          <a:noFill/>
        </p:spPr>
        <p:txBody>
          <a:bodyPr wrap="square">
            <a:spAutoFit/>
          </a:bodyPr>
          <a:lstStyle/>
          <a:p>
            <a:pPr algn="ctr"/>
            <a:r>
              <a:rPr sz="1300" b="1">
                <a:solidFill>
                  <a:srgbClr val="FFFFFF"/>
                </a:solidFill>
                <a:latin typeface="Arial"/>
              </a:rPr>
              <a:t>1</a:t>
            </a:r>
          </a:p>
        </p:txBody>
      </p:sp>
      <p:sp>
        <p:nvSpPr>
          <p:cNvPr id="12" name="TextBox 11"/>
          <p:cNvSpPr txBox="1"/>
          <p:nvPr/>
        </p:nvSpPr>
        <p:spPr>
          <a:xfrm>
            <a:off x="822960" y="1307592"/>
            <a:ext cx="11064240" cy="347472"/>
          </a:xfrm>
          <a:prstGeom prst="rect">
            <a:avLst/>
          </a:prstGeom>
          <a:noFill/>
        </p:spPr>
        <p:txBody>
          <a:bodyPr wrap="square">
            <a:spAutoFit/>
          </a:bodyPr>
          <a:lstStyle/>
          <a:p>
            <a:pPr algn="l"/>
            <a:r>
              <a:rPr sz="1300" b="1">
                <a:solidFill>
                  <a:srgbClr val="1A1A1A"/>
                </a:solidFill>
                <a:latin typeface="Arial"/>
              </a:rPr>
              <a:t>Direct Messaging to Customers</a:t>
            </a:r>
          </a:p>
        </p:txBody>
      </p:sp>
      <p:sp>
        <p:nvSpPr>
          <p:cNvPr id="13" name="TextBox 12"/>
          <p:cNvSpPr txBox="1"/>
          <p:nvPr/>
        </p:nvSpPr>
        <p:spPr>
          <a:xfrm>
            <a:off x="822960" y="1645919"/>
            <a:ext cx="11064240" cy="384048"/>
          </a:xfrm>
          <a:prstGeom prst="rect">
            <a:avLst/>
          </a:prstGeom>
          <a:noFill/>
        </p:spPr>
        <p:txBody>
          <a:bodyPr wrap="square">
            <a:spAutoFit/>
          </a:bodyPr>
          <a:lstStyle/>
          <a:p>
            <a:pPr algn="l"/>
            <a:r>
              <a:rPr sz="1050" b="0">
                <a:solidFill>
                  <a:srgbClr val="4A4A4A"/>
                </a:solidFill>
                <a:latin typeface="Arial"/>
              </a:rPr>
              <a:t>Send personalized messages, promotions, and updates directly to followers' chat inbox — ensuring high open rates.</a:t>
            </a:r>
          </a:p>
        </p:txBody>
      </p:sp>
      <p:sp>
        <p:nvSpPr>
          <p:cNvPr id="14" name="Rectangle 13"/>
          <p:cNvSpPr/>
          <p:nvPr/>
        </p:nvSpPr>
        <p:spPr>
          <a:xfrm>
            <a:off x="320040" y="2139696"/>
            <a:ext cx="11567160" cy="27432"/>
          </a:xfrm>
          <a:prstGeom prst="rect">
            <a:avLst/>
          </a:prstGeom>
          <a:solidFill>
            <a:srgbClr val="E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20040" y="2267712"/>
            <a:ext cx="384048" cy="384048"/>
          </a:xfrm>
          <a:prstGeom prst="rect">
            <a:avLst/>
          </a:prstGeom>
          <a:solidFill>
            <a:srgbClr val="E200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 y="2286000"/>
            <a:ext cx="384048" cy="347472"/>
          </a:xfrm>
          <a:prstGeom prst="rect">
            <a:avLst/>
          </a:prstGeom>
          <a:noFill/>
        </p:spPr>
        <p:txBody>
          <a:bodyPr wrap="square">
            <a:spAutoFit/>
          </a:bodyPr>
          <a:lstStyle/>
          <a:p>
            <a:pPr algn="ctr"/>
            <a:r>
              <a:rPr sz="1300" b="1">
                <a:solidFill>
                  <a:srgbClr val="FFFFFF"/>
                </a:solidFill>
                <a:latin typeface="Arial"/>
              </a:rPr>
              <a:t>2</a:t>
            </a:r>
          </a:p>
        </p:txBody>
      </p:sp>
      <p:sp>
        <p:nvSpPr>
          <p:cNvPr id="17" name="TextBox 16"/>
          <p:cNvSpPr txBox="1"/>
          <p:nvPr/>
        </p:nvSpPr>
        <p:spPr>
          <a:xfrm>
            <a:off x="822960" y="2276856"/>
            <a:ext cx="11064240" cy="347472"/>
          </a:xfrm>
          <a:prstGeom prst="rect">
            <a:avLst/>
          </a:prstGeom>
          <a:noFill/>
        </p:spPr>
        <p:txBody>
          <a:bodyPr wrap="square">
            <a:spAutoFit/>
          </a:bodyPr>
          <a:lstStyle/>
          <a:p>
            <a:pPr algn="l"/>
            <a:r>
              <a:rPr sz="1300" b="1">
                <a:solidFill>
                  <a:srgbClr val="1A1A1A"/>
                </a:solidFill>
                <a:latin typeface="Arial"/>
              </a:rPr>
              <a:t>Broadcast &amp; Segmented Messaging</a:t>
            </a:r>
          </a:p>
        </p:txBody>
      </p:sp>
      <p:sp>
        <p:nvSpPr>
          <p:cNvPr id="18" name="TextBox 17"/>
          <p:cNvSpPr txBox="1"/>
          <p:nvPr/>
        </p:nvSpPr>
        <p:spPr>
          <a:xfrm>
            <a:off x="822960" y="2615184"/>
            <a:ext cx="11064240" cy="384048"/>
          </a:xfrm>
          <a:prstGeom prst="rect">
            <a:avLst/>
          </a:prstGeom>
          <a:noFill/>
        </p:spPr>
        <p:txBody>
          <a:bodyPr wrap="square">
            <a:spAutoFit/>
          </a:bodyPr>
          <a:lstStyle/>
          <a:p>
            <a:pPr algn="l"/>
            <a:r>
              <a:rPr sz="1050" b="0">
                <a:solidFill>
                  <a:srgbClr val="4A4A4A"/>
                </a:solidFill>
                <a:latin typeface="Arial"/>
              </a:rPr>
              <a:t>Reach all followers at once or target specific audience segments based on demographics, behavior, or tags.</a:t>
            </a:r>
          </a:p>
        </p:txBody>
      </p:sp>
      <p:sp>
        <p:nvSpPr>
          <p:cNvPr id="19" name="Rectangle 18"/>
          <p:cNvSpPr/>
          <p:nvPr/>
        </p:nvSpPr>
        <p:spPr>
          <a:xfrm>
            <a:off x="320040" y="3108960"/>
            <a:ext cx="11567160" cy="27432"/>
          </a:xfrm>
          <a:prstGeom prst="rect">
            <a:avLst/>
          </a:prstGeom>
          <a:solidFill>
            <a:srgbClr val="E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20040" y="3236976"/>
            <a:ext cx="384048" cy="384048"/>
          </a:xfrm>
          <a:prstGeom prst="rect">
            <a:avLst/>
          </a:prstGeom>
          <a:solidFill>
            <a:srgbClr val="E200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0040" y="3255264"/>
            <a:ext cx="384048" cy="347472"/>
          </a:xfrm>
          <a:prstGeom prst="rect">
            <a:avLst/>
          </a:prstGeom>
          <a:noFill/>
        </p:spPr>
        <p:txBody>
          <a:bodyPr wrap="square">
            <a:spAutoFit/>
          </a:bodyPr>
          <a:lstStyle/>
          <a:p>
            <a:pPr algn="ctr"/>
            <a:r>
              <a:rPr sz="1300" b="1">
                <a:solidFill>
                  <a:srgbClr val="FFFFFF"/>
                </a:solidFill>
                <a:latin typeface="Arial"/>
              </a:rPr>
              <a:t>3</a:t>
            </a:r>
          </a:p>
        </p:txBody>
      </p:sp>
      <p:sp>
        <p:nvSpPr>
          <p:cNvPr id="22" name="TextBox 21"/>
          <p:cNvSpPr txBox="1"/>
          <p:nvPr/>
        </p:nvSpPr>
        <p:spPr>
          <a:xfrm>
            <a:off x="822960" y="3246120"/>
            <a:ext cx="11064240" cy="347472"/>
          </a:xfrm>
          <a:prstGeom prst="rect">
            <a:avLst/>
          </a:prstGeom>
          <a:noFill/>
        </p:spPr>
        <p:txBody>
          <a:bodyPr wrap="square">
            <a:spAutoFit/>
          </a:bodyPr>
          <a:lstStyle/>
          <a:p>
            <a:pPr algn="l"/>
            <a:r>
              <a:rPr sz="1300" b="1">
                <a:solidFill>
                  <a:srgbClr val="1A1A1A"/>
                </a:solidFill>
                <a:latin typeface="Arial"/>
              </a:rPr>
              <a:t>Rich Menu &amp; Custom UI</a:t>
            </a:r>
          </a:p>
        </p:txBody>
      </p:sp>
      <p:sp>
        <p:nvSpPr>
          <p:cNvPr id="23" name="TextBox 22"/>
          <p:cNvSpPr txBox="1"/>
          <p:nvPr/>
        </p:nvSpPr>
        <p:spPr>
          <a:xfrm>
            <a:off x="822960" y="3584448"/>
            <a:ext cx="11064240" cy="384048"/>
          </a:xfrm>
          <a:prstGeom prst="rect">
            <a:avLst/>
          </a:prstGeom>
          <a:noFill/>
        </p:spPr>
        <p:txBody>
          <a:bodyPr wrap="square">
            <a:spAutoFit/>
          </a:bodyPr>
          <a:lstStyle/>
          <a:p>
            <a:pPr algn="l"/>
            <a:r>
              <a:rPr sz="1050" b="0">
                <a:solidFill>
                  <a:srgbClr val="4A4A4A"/>
                </a:solidFill>
                <a:latin typeface="Arial"/>
              </a:rPr>
              <a:t>Design interactive menus at the bottom of chats to guide users to key features, websites, or services instantly.</a:t>
            </a:r>
          </a:p>
        </p:txBody>
      </p:sp>
      <p:sp>
        <p:nvSpPr>
          <p:cNvPr id="24" name="Rectangle 23"/>
          <p:cNvSpPr/>
          <p:nvPr/>
        </p:nvSpPr>
        <p:spPr>
          <a:xfrm>
            <a:off x="320040" y="4078224"/>
            <a:ext cx="11567160" cy="27432"/>
          </a:xfrm>
          <a:prstGeom prst="rect">
            <a:avLst/>
          </a:prstGeom>
          <a:solidFill>
            <a:srgbClr val="E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20040" y="4206240"/>
            <a:ext cx="384048" cy="384048"/>
          </a:xfrm>
          <a:prstGeom prst="rect">
            <a:avLst/>
          </a:prstGeom>
          <a:solidFill>
            <a:srgbClr val="E200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0040" y="4224528"/>
            <a:ext cx="384048" cy="347472"/>
          </a:xfrm>
          <a:prstGeom prst="rect">
            <a:avLst/>
          </a:prstGeom>
          <a:noFill/>
        </p:spPr>
        <p:txBody>
          <a:bodyPr wrap="square">
            <a:spAutoFit/>
          </a:bodyPr>
          <a:lstStyle/>
          <a:p>
            <a:pPr algn="ctr"/>
            <a:r>
              <a:rPr sz="1300" b="1">
                <a:solidFill>
                  <a:srgbClr val="FFFFFF"/>
                </a:solidFill>
                <a:latin typeface="Arial"/>
              </a:rPr>
              <a:t>4</a:t>
            </a:r>
          </a:p>
        </p:txBody>
      </p:sp>
      <p:sp>
        <p:nvSpPr>
          <p:cNvPr id="27" name="TextBox 26"/>
          <p:cNvSpPr txBox="1"/>
          <p:nvPr/>
        </p:nvSpPr>
        <p:spPr>
          <a:xfrm>
            <a:off x="822960" y="4215384"/>
            <a:ext cx="11064240" cy="347472"/>
          </a:xfrm>
          <a:prstGeom prst="rect">
            <a:avLst/>
          </a:prstGeom>
          <a:noFill/>
        </p:spPr>
        <p:txBody>
          <a:bodyPr wrap="square">
            <a:spAutoFit/>
          </a:bodyPr>
          <a:lstStyle/>
          <a:p>
            <a:pPr algn="l"/>
            <a:r>
              <a:rPr sz="1300" b="1">
                <a:solidFill>
                  <a:srgbClr val="1A1A1A"/>
                </a:solidFill>
                <a:latin typeface="Arial"/>
              </a:rPr>
              <a:t>Chatbot &amp; Auto-Reply Integration</a:t>
            </a:r>
          </a:p>
        </p:txBody>
      </p:sp>
      <p:sp>
        <p:nvSpPr>
          <p:cNvPr id="28" name="TextBox 27"/>
          <p:cNvSpPr txBox="1"/>
          <p:nvPr/>
        </p:nvSpPr>
        <p:spPr>
          <a:xfrm>
            <a:off x="822960" y="4553712"/>
            <a:ext cx="11064240" cy="384048"/>
          </a:xfrm>
          <a:prstGeom prst="rect">
            <a:avLst/>
          </a:prstGeom>
          <a:noFill/>
        </p:spPr>
        <p:txBody>
          <a:bodyPr wrap="square">
            <a:spAutoFit/>
          </a:bodyPr>
          <a:lstStyle/>
          <a:p>
            <a:pPr algn="l"/>
            <a:r>
              <a:rPr sz="1050" b="0">
                <a:solidFill>
                  <a:srgbClr val="4A4A4A"/>
                </a:solidFill>
                <a:latin typeface="Arial"/>
              </a:rPr>
              <a:t>Automate responses with AI chatbots, FAQs, and triggered messages to provide 24/7 customer support.</a:t>
            </a:r>
          </a:p>
        </p:txBody>
      </p:sp>
      <p:sp>
        <p:nvSpPr>
          <p:cNvPr id="29" name="Rectangle 28"/>
          <p:cNvSpPr/>
          <p:nvPr/>
        </p:nvSpPr>
        <p:spPr>
          <a:xfrm>
            <a:off x="320040" y="5047488"/>
            <a:ext cx="11567160" cy="27432"/>
          </a:xfrm>
          <a:prstGeom prst="rect">
            <a:avLst/>
          </a:prstGeom>
          <a:solidFill>
            <a:srgbClr val="E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20040" y="5175504"/>
            <a:ext cx="384048" cy="384048"/>
          </a:xfrm>
          <a:prstGeom prst="rect">
            <a:avLst/>
          </a:prstGeom>
          <a:solidFill>
            <a:srgbClr val="E200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20040" y="5193792"/>
            <a:ext cx="384048" cy="347472"/>
          </a:xfrm>
          <a:prstGeom prst="rect">
            <a:avLst/>
          </a:prstGeom>
          <a:noFill/>
        </p:spPr>
        <p:txBody>
          <a:bodyPr wrap="square">
            <a:spAutoFit/>
          </a:bodyPr>
          <a:lstStyle/>
          <a:p>
            <a:pPr algn="ctr"/>
            <a:r>
              <a:rPr sz="1300" b="1">
                <a:solidFill>
                  <a:srgbClr val="FFFFFF"/>
                </a:solidFill>
                <a:latin typeface="Arial"/>
              </a:rPr>
              <a:t>5</a:t>
            </a:r>
          </a:p>
        </p:txBody>
      </p:sp>
      <p:sp>
        <p:nvSpPr>
          <p:cNvPr id="32" name="TextBox 31"/>
          <p:cNvSpPr txBox="1"/>
          <p:nvPr/>
        </p:nvSpPr>
        <p:spPr>
          <a:xfrm>
            <a:off x="822960" y="5184648"/>
            <a:ext cx="11064240" cy="347472"/>
          </a:xfrm>
          <a:prstGeom prst="rect">
            <a:avLst/>
          </a:prstGeom>
          <a:noFill/>
        </p:spPr>
        <p:txBody>
          <a:bodyPr wrap="square">
            <a:spAutoFit/>
          </a:bodyPr>
          <a:lstStyle/>
          <a:p>
            <a:pPr algn="l"/>
            <a:r>
              <a:rPr sz="1300" b="1">
                <a:solidFill>
                  <a:srgbClr val="1A1A1A"/>
                </a:solidFill>
                <a:latin typeface="Arial"/>
              </a:rPr>
              <a:t>Verified Badge &amp; Brand Trust</a:t>
            </a:r>
          </a:p>
        </p:txBody>
      </p:sp>
      <p:sp>
        <p:nvSpPr>
          <p:cNvPr id="33" name="TextBox 32"/>
          <p:cNvSpPr txBox="1"/>
          <p:nvPr/>
        </p:nvSpPr>
        <p:spPr>
          <a:xfrm>
            <a:off x="822960" y="5522976"/>
            <a:ext cx="11064240" cy="384048"/>
          </a:xfrm>
          <a:prstGeom prst="rect">
            <a:avLst/>
          </a:prstGeom>
          <a:noFill/>
        </p:spPr>
        <p:txBody>
          <a:bodyPr wrap="square">
            <a:spAutoFit/>
          </a:bodyPr>
          <a:lstStyle/>
          <a:p>
            <a:pPr algn="l"/>
            <a:r>
              <a:rPr sz="1050" b="0">
                <a:solidFill>
                  <a:srgbClr val="4A4A4A"/>
                </a:solidFill>
                <a:latin typeface="Arial"/>
              </a:rPr>
              <a:t>Earn the official verified badge that builds brand credibility and distinguishes you from personal accounts.</a:t>
            </a:r>
          </a:p>
        </p:txBody>
      </p:sp>
      <p:sp>
        <p:nvSpPr>
          <p:cNvPr id="34" name="Rectangle 33"/>
          <p:cNvSpPr/>
          <p:nvPr/>
        </p:nvSpPr>
        <p:spPr>
          <a:xfrm>
            <a:off x="320040" y="6016752"/>
            <a:ext cx="11567160" cy="27432"/>
          </a:xfrm>
          <a:prstGeom prst="rect">
            <a:avLst/>
          </a:prstGeom>
          <a:solidFill>
            <a:srgbClr val="E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E200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12024360" cy="105156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789920" y="164592"/>
            <a:ext cx="713232" cy="713232"/>
          </a:xfrm>
          <a:prstGeom prst="rect">
            <a:avLst/>
          </a:prstGeom>
          <a:solidFill>
            <a:srgbClr val="E200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744200" y="201168"/>
            <a:ext cx="822960" cy="548640"/>
          </a:xfrm>
          <a:prstGeom prst="rect">
            <a:avLst/>
          </a:prstGeom>
          <a:noFill/>
        </p:spPr>
        <p:txBody>
          <a:bodyPr wrap="square">
            <a:spAutoFit/>
          </a:bodyPr>
          <a:lstStyle/>
          <a:p>
            <a:pPr algn="ctr"/>
            <a:r>
              <a:rPr sz="700" b="1">
                <a:solidFill>
                  <a:srgbClr val="FFFFFF"/>
                </a:solidFill>
                <a:latin typeface="Arial"/>
              </a:rPr>
              <a:t>BOSCH</a:t>
            </a:r>
          </a:p>
        </p:txBody>
      </p:sp>
      <p:sp>
        <p:nvSpPr>
          <p:cNvPr id="6" name="TextBox 5"/>
          <p:cNvSpPr txBox="1"/>
          <p:nvPr/>
        </p:nvSpPr>
        <p:spPr>
          <a:xfrm>
            <a:off x="457200" y="182880"/>
            <a:ext cx="10058400" cy="685800"/>
          </a:xfrm>
          <a:prstGeom prst="rect">
            <a:avLst/>
          </a:prstGeom>
          <a:noFill/>
        </p:spPr>
        <p:txBody>
          <a:bodyPr wrap="square">
            <a:spAutoFit/>
          </a:bodyPr>
          <a:lstStyle/>
          <a:p>
            <a:pPr algn="l"/>
            <a:r>
              <a:rPr sz="2400" b="1">
                <a:solidFill>
                  <a:srgbClr val="FFFFFF"/>
                </a:solidFill>
                <a:latin typeface="Arial"/>
              </a:rPr>
              <a:t>Marketing &amp; Sales Benefits</a:t>
            </a:r>
          </a:p>
        </p:txBody>
      </p:sp>
      <p:sp>
        <p:nvSpPr>
          <p:cNvPr id="7" name="Rectangle 6"/>
          <p:cNvSpPr/>
          <p:nvPr/>
        </p:nvSpPr>
        <p:spPr>
          <a:xfrm>
            <a:off x="164592" y="1051560"/>
            <a:ext cx="12024360" cy="54864"/>
          </a:xfrm>
          <a:prstGeom prst="rect">
            <a:avLst/>
          </a:prstGeom>
          <a:solidFill>
            <a:srgbClr val="E200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64592" y="6492240"/>
            <a:ext cx="12024360" cy="36576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6510528"/>
            <a:ext cx="11612880" cy="274320"/>
          </a:xfrm>
          <a:prstGeom prst="rect">
            <a:avLst/>
          </a:prstGeom>
          <a:noFill/>
        </p:spPr>
        <p:txBody>
          <a:bodyPr wrap="square">
            <a:spAutoFit/>
          </a:bodyPr>
          <a:lstStyle/>
          <a:p>
            <a:pPr algn="l"/>
            <a:r>
              <a:rPr sz="900" b="0">
                <a:solidFill>
                  <a:srgbClr val="767676"/>
                </a:solidFill>
                <a:latin typeface="Arial"/>
              </a:rPr>
              <a:t>WhiteWings  |  LINE OA Solutions  |  2026</a:t>
            </a:r>
          </a:p>
        </p:txBody>
      </p:sp>
      <p:sp>
        <p:nvSpPr>
          <p:cNvPr id="10" name="Rectangle 9"/>
          <p:cNvSpPr/>
          <p:nvPr/>
        </p:nvSpPr>
        <p:spPr>
          <a:xfrm>
            <a:off x="320040" y="1298448"/>
            <a:ext cx="384048" cy="384048"/>
          </a:xfrm>
          <a:prstGeom prst="rect">
            <a:avLst/>
          </a:prstGeom>
          <a:solidFill>
            <a:srgbClr val="E200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0040" y="1316736"/>
            <a:ext cx="384048" cy="347472"/>
          </a:xfrm>
          <a:prstGeom prst="rect">
            <a:avLst/>
          </a:prstGeom>
          <a:noFill/>
        </p:spPr>
        <p:txBody>
          <a:bodyPr wrap="square">
            <a:spAutoFit/>
          </a:bodyPr>
          <a:lstStyle/>
          <a:p>
            <a:pPr algn="ctr"/>
            <a:r>
              <a:rPr sz="1300" b="1">
                <a:solidFill>
                  <a:srgbClr val="FFFFFF"/>
                </a:solidFill>
                <a:latin typeface="Arial"/>
              </a:rPr>
              <a:t>1</a:t>
            </a:r>
          </a:p>
        </p:txBody>
      </p:sp>
      <p:sp>
        <p:nvSpPr>
          <p:cNvPr id="12" name="TextBox 11"/>
          <p:cNvSpPr txBox="1"/>
          <p:nvPr/>
        </p:nvSpPr>
        <p:spPr>
          <a:xfrm>
            <a:off x="822960" y="1307592"/>
            <a:ext cx="11064240" cy="347472"/>
          </a:xfrm>
          <a:prstGeom prst="rect">
            <a:avLst/>
          </a:prstGeom>
          <a:noFill/>
        </p:spPr>
        <p:txBody>
          <a:bodyPr wrap="square">
            <a:spAutoFit/>
          </a:bodyPr>
          <a:lstStyle/>
          <a:p>
            <a:pPr algn="l"/>
            <a:r>
              <a:rPr sz="1300" b="1">
                <a:solidFill>
                  <a:srgbClr val="1A1A1A"/>
                </a:solidFill>
                <a:latin typeface="Arial"/>
              </a:rPr>
              <a:t>Coupon &amp; Reward Distribution</a:t>
            </a:r>
          </a:p>
        </p:txBody>
      </p:sp>
      <p:sp>
        <p:nvSpPr>
          <p:cNvPr id="13" name="TextBox 12"/>
          <p:cNvSpPr txBox="1"/>
          <p:nvPr/>
        </p:nvSpPr>
        <p:spPr>
          <a:xfrm>
            <a:off x="822960" y="1645919"/>
            <a:ext cx="11064240" cy="384048"/>
          </a:xfrm>
          <a:prstGeom prst="rect">
            <a:avLst/>
          </a:prstGeom>
          <a:noFill/>
        </p:spPr>
        <p:txBody>
          <a:bodyPr wrap="square">
            <a:spAutoFit/>
          </a:bodyPr>
          <a:lstStyle/>
          <a:p>
            <a:pPr algn="l"/>
            <a:r>
              <a:rPr sz="1050" b="0">
                <a:solidFill>
                  <a:srgbClr val="4A4A4A"/>
                </a:solidFill>
                <a:latin typeface="Arial"/>
              </a:rPr>
              <a:t>Issue digital coupons, stamp cards, and loyalty rewards directly through LINE to drive repeat purchases.</a:t>
            </a:r>
          </a:p>
        </p:txBody>
      </p:sp>
      <p:sp>
        <p:nvSpPr>
          <p:cNvPr id="14" name="Rectangle 13"/>
          <p:cNvSpPr/>
          <p:nvPr/>
        </p:nvSpPr>
        <p:spPr>
          <a:xfrm>
            <a:off x="320040" y="2139696"/>
            <a:ext cx="11567160" cy="27432"/>
          </a:xfrm>
          <a:prstGeom prst="rect">
            <a:avLst/>
          </a:prstGeom>
          <a:solidFill>
            <a:srgbClr val="E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20040" y="2267712"/>
            <a:ext cx="384048" cy="384048"/>
          </a:xfrm>
          <a:prstGeom prst="rect">
            <a:avLst/>
          </a:prstGeom>
          <a:solidFill>
            <a:srgbClr val="E200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 y="2286000"/>
            <a:ext cx="384048" cy="347472"/>
          </a:xfrm>
          <a:prstGeom prst="rect">
            <a:avLst/>
          </a:prstGeom>
          <a:noFill/>
        </p:spPr>
        <p:txBody>
          <a:bodyPr wrap="square">
            <a:spAutoFit/>
          </a:bodyPr>
          <a:lstStyle/>
          <a:p>
            <a:pPr algn="ctr"/>
            <a:r>
              <a:rPr sz="1300" b="1">
                <a:solidFill>
                  <a:srgbClr val="FFFFFF"/>
                </a:solidFill>
                <a:latin typeface="Arial"/>
              </a:rPr>
              <a:t>2</a:t>
            </a:r>
          </a:p>
        </p:txBody>
      </p:sp>
      <p:sp>
        <p:nvSpPr>
          <p:cNvPr id="17" name="TextBox 16"/>
          <p:cNvSpPr txBox="1"/>
          <p:nvPr/>
        </p:nvSpPr>
        <p:spPr>
          <a:xfrm>
            <a:off x="822960" y="2276856"/>
            <a:ext cx="11064240" cy="347472"/>
          </a:xfrm>
          <a:prstGeom prst="rect">
            <a:avLst/>
          </a:prstGeom>
          <a:noFill/>
        </p:spPr>
        <p:txBody>
          <a:bodyPr wrap="square">
            <a:spAutoFit/>
          </a:bodyPr>
          <a:lstStyle/>
          <a:p>
            <a:pPr algn="l"/>
            <a:r>
              <a:rPr sz="1300" b="1">
                <a:solidFill>
                  <a:srgbClr val="1A1A1A"/>
                </a:solidFill>
                <a:latin typeface="Arial"/>
              </a:rPr>
              <a:t>LINE Points &amp; Incentives</a:t>
            </a:r>
          </a:p>
        </p:txBody>
      </p:sp>
      <p:sp>
        <p:nvSpPr>
          <p:cNvPr id="18" name="TextBox 17"/>
          <p:cNvSpPr txBox="1"/>
          <p:nvPr/>
        </p:nvSpPr>
        <p:spPr>
          <a:xfrm>
            <a:off x="822960" y="2615184"/>
            <a:ext cx="11064240" cy="384048"/>
          </a:xfrm>
          <a:prstGeom prst="rect">
            <a:avLst/>
          </a:prstGeom>
          <a:noFill/>
        </p:spPr>
        <p:txBody>
          <a:bodyPr wrap="square">
            <a:spAutoFit/>
          </a:bodyPr>
          <a:lstStyle/>
          <a:p>
            <a:pPr algn="l"/>
            <a:r>
              <a:rPr sz="1050" b="0">
                <a:solidFill>
                  <a:srgbClr val="4A4A4A"/>
                </a:solidFill>
                <a:latin typeface="Arial"/>
              </a:rPr>
              <a:t>Reward customers with LINE Points to encourage engagement, referrals, and brand loyalty.</a:t>
            </a:r>
          </a:p>
        </p:txBody>
      </p:sp>
      <p:sp>
        <p:nvSpPr>
          <p:cNvPr id="19" name="Rectangle 18"/>
          <p:cNvSpPr/>
          <p:nvPr/>
        </p:nvSpPr>
        <p:spPr>
          <a:xfrm>
            <a:off x="320040" y="3108960"/>
            <a:ext cx="11567160" cy="27432"/>
          </a:xfrm>
          <a:prstGeom prst="rect">
            <a:avLst/>
          </a:prstGeom>
          <a:solidFill>
            <a:srgbClr val="E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20040" y="3236976"/>
            <a:ext cx="384048" cy="384048"/>
          </a:xfrm>
          <a:prstGeom prst="rect">
            <a:avLst/>
          </a:prstGeom>
          <a:solidFill>
            <a:srgbClr val="E200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0040" y="3255264"/>
            <a:ext cx="384048" cy="347472"/>
          </a:xfrm>
          <a:prstGeom prst="rect">
            <a:avLst/>
          </a:prstGeom>
          <a:noFill/>
        </p:spPr>
        <p:txBody>
          <a:bodyPr wrap="square">
            <a:spAutoFit/>
          </a:bodyPr>
          <a:lstStyle/>
          <a:p>
            <a:pPr algn="ctr"/>
            <a:r>
              <a:rPr sz="1300" b="1">
                <a:solidFill>
                  <a:srgbClr val="FFFFFF"/>
                </a:solidFill>
                <a:latin typeface="Arial"/>
              </a:rPr>
              <a:t>3</a:t>
            </a:r>
          </a:p>
        </p:txBody>
      </p:sp>
      <p:sp>
        <p:nvSpPr>
          <p:cNvPr id="22" name="TextBox 21"/>
          <p:cNvSpPr txBox="1"/>
          <p:nvPr/>
        </p:nvSpPr>
        <p:spPr>
          <a:xfrm>
            <a:off x="822960" y="3246120"/>
            <a:ext cx="11064240" cy="347472"/>
          </a:xfrm>
          <a:prstGeom prst="rect">
            <a:avLst/>
          </a:prstGeom>
          <a:noFill/>
        </p:spPr>
        <p:txBody>
          <a:bodyPr wrap="square">
            <a:spAutoFit/>
          </a:bodyPr>
          <a:lstStyle/>
          <a:p>
            <a:pPr algn="l"/>
            <a:r>
              <a:rPr sz="1300" b="1">
                <a:solidFill>
                  <a:srgbClr val="1A1A1A"/>
                </a:solidFill>
                <a:latin typeface="Arial"/>
              </a:rPr>
              <a:t>Product Catalog &amp; In-Chat Shopping</a:t>
            </a:r>
          </a:p>
        </p:txBody>
      </p:sp>
      <p:sp>
        <p:nvSpPr>
          <p:cNvPr id="23" name="TextBox 22"/>
          <p:cNvSpPr txBox="1"/>
          <p:nvPr/>
        </p:nvSpPr>
        <p:spPr>
          <a:xfrm>
            <a:off x="822960" y="3584448"/>
            <a:ext cx="11064240" cy="384048"/>
          </a:xfrm>
          <a:prstGeom prst="rect">
            <a:avLst/>
          </a:prstGeom>
          <a:noFill/>
        </p:spPr>
        <p:txBody>
          <a:bodyPr wrap="square">
            <a:spAutoFit/>
          </a:bodyPr>
          <a:lstStyle/>
          <a:p>
            <a:pPr algn="l"/>
            <a:r>
              <a:rPr sz="1050" b="0">
                <a:solidFill>
                  <a:srgbClr val="4A4A4A"/>
                </a:solidFill>
                <a:latin typeface="Arial"/>
              </a:rPr>
              <a:t>Showcase products with images, descriptions, and links — enabling seamless in-app discovery and purchase.</a:t>
            </a:r>
          </a:p>
        </p:txBody>
      </p:sp>
      <p:sp>
        <p:nvSpPr>
          <p:cNvPr id="24" name="Rectangle 23"/>
          <p:cNvSpPr/>
          <p:nvPr/>
        </p:nvSpPr>
        <p:spPr>
          <a:xfrm>
            <a:off x="320040" y="4078224"/>
            <a:ext cx="11567160" cy="27432"/>
          </a:xfrm>
          <a:prstGeom prst="rect">
            <a:avLst/>
          </a:prstGeom>
          <a:solidFill>
            <a:srgbClr val="E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20040" y="4206240"/>
            <a:ext cx="384048" cy="384048"/>
          </a:xfrm>
          <a:prstGeom prst="rect">
            <a:avLst/>
          </a:prstGeom>
          <a:solidFill>
            <a:srgbClr val="E200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0040" y="4224528"/>
            <a:ext cx="384048" cy="347472"/>
          </a:xfrm>
          <a:prstGeom prst="rect">
            <a:avLst/>
          </a:prstGeom>
          <a:noFill/>
        </p:spPr>
        <p:txBody>
          <a:bodyPr wrap="square">
            <a:spAutoFit/>
          </a:bodyPr>
          <a:lstStyle/>
          <a:p>
            <a:pPr algn="ctr"/>
            <a:r>
              <a:rPr sz="1300" b="1">
                <a:solidFill>
                  <a:srgbClr val="FFFFFF"/>
                </a:solidFill>
                <a:latin typeface="Arial"/>
              </a:rPr>
              <a:t>4</a:t>
            </a:r>
          </a:p>
        </p:txBody>
      </p:sp>
      <p:sp>
        <p:nvSpPr>
          <p:cNvPr id="27" name="TextBox 26"/>
          <p:cNvSpPr txBox="1"/>
          <p:nvPr/>
        </p:nvSpPr>
        <p:spPr>
          <a:xfrm>
            <a:off x="822960" y="4215384"/>
            <a:ext cx="11064240" cy="347472"/>
          </a:xfrm>
          <a:prstGeom prst="rect">
            <a:avLst/>
          </a:prstGeom>
          <a:noFill/>
        </p:spPr>
        <p:txBody>
          <a:bodyPr wrap="square">
            <a:spAutoFit/>
          </a:bodyPr>
          <a:lstStyle/>
          <a:p>
            <a:pPr algn="l"/>
            <a:r>
              <a:rPr sz="1300" b="1">
                <a:solidFill>
                  <a:srgbClr val="1A1A1A"/>
                </a:solidFill>
                <a:latin typeface="Arial"/>
              </a:rPr>
              <a:t>Click-to-LINE Ads Integration</a:t>
            </a:r>
          </a:p>
        </p:txBody>
      </p:sp>
      <p:sp>
        <p:nvSpPr>
          <p:cNvPr id="28" name="TextBox 27"/>
          <p:cNvSpPr txBox="1"/>
          <p:nvPr/>
        </p:nvSpPr>
        <p:spPr>
          <a:xfrm>
            <a:off x="822960" y="4553712"/>
            <a:ext cx="11064240" cy="384048"/>
          </a:xfrm>
          <a:prstGeom prst="rect">
            <a:avLst/>
          </a:prstGeom>
          <a:noFill/>
        </p:spPr>
        <p:txBody>
          <a:bodyPr wrap="square">
            <a:spAutoFit/>
          </a:bodyPr>
          <a:lstStyle/>
          <a:p>
            <a:pPr algn="l"/>
            <a:r>
              <a:rPr sz="1050" b="0">
                <a:solidFill>
                  <a:srgbClr val="4A4A4A"/>
                </a:solidFill>
                <a:latin typeface="Arial"/>
              </a:rPr>
              <a:t>Run targeted LINE Ads that direct users straight to a conversation with your OA for instant lead capture.</a:t>
            </a:r>
          </a:p>
        </p:txBody>
      </p:sp>
      <p:sp>
        <p:nvSpPr>
          <p:cNvPr id="29" name="Rectangle 28"/>
          <p:cNvSpPr/>
          <p:nvPr/>
        </p:nvSpPr>
        <p:spPr>
          <a:xfrm>
            <a:off x="320040" y="5047488"/>
            <a:ext cx="11567160" cy="27432"/>
          </a:xfrm>
          <a:prstGeom prst="rect">
            <a:avLst/>
          </a:prstGeom>
          <a:solidFill>
            <a:srgbClr val="E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20040" y="5175504"/>
            <a:ext cx="384048" cy="384048"/>
          </a:xfrm>
          <a:prstGeom prst="rect">
            <a:avLst/>
          </a:prstGeom>
          <a:solidFill>
            <a:srgbClr val="E200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20040" y="5193792"/>
            <a:ext cx="384048" cy="347472"/>
          </a:xfrm>
          <a:prstGeom prst="rect">
            <a:avLst/>
          </a:prstGeom>
          <a:noFill/>
        </p:spPr>
        <p:txBody>
          <a:bodyPr wrap="square">
            <a:spAutoFit/>
          </a:bodyPr>
          <a:lstStyle/>
          <a:p>
            <a:pPr algn="ctr"/>
            <a:r>
              <a:rPr sz="1300" b="1">
                <a:solidFill>
                  <a:srgbClr val="FFFFFF"/>
                </a:solidFill>
                <a:latin typeface="Arial"/>
              </a:rPr>
              <a:t>5</a:t>
            </a:r>
          </a:p>
        </p:txBody>
      </p:sp>
      <p:sp>
        <p:nvSpPr>
          <p:cNvPr id="32" name="TextBox 31"/>
          <p:cNvSpPr txBox="1"/>
          <p:nvPr/>
        </p:nvSpPr>
        <p:spPr>
          <a:xfrm>
            <a:off x="822960" y="5184648"/>
            <a:ext cx="11064240" cy="347472"/>
          </a:xfrm>
          <a:prstGeom prst="rect">
            <a:avLst/>
          </a:prstGeom>
          <a:noFill/>
        </p:spPr>
        <p:txBody>
          <a:bodyPr wrap="square">
            <a:spAutoFit/>
          </a:bodyPr>
          <a:lstStyle/>
          <a:p>
            <a:pPr algn="l"/>
            <a:r>
              <a:rPr sz="1300" b="1">
                <a:solidFill>
                  <a:srgbClr val="1A1A1A"/>
                </a:solidFill>
                <a:latin typeface="Arial"/>
              </a:rPr>
              <a:t>Analytics &amp; Insights Dashboard</a:t>
            </a:r>
          </a:p>
        </p:txBody>
      </p:sp>
      <p:sp>
        <p:nvSpPr>
          <p:cNvPr id="33" name="TextBox 32"/>
          <p:cNvSpPr txBox="1"/>
          <p:nvPr/>
        </p:nvSpPr>
        <p:spPr>
          <a:xfrm>
            <a:off x="822960" y="5522976"/>
            <a:ext cx="11064240" cy="384048"/>
          </a:xfrm>
          <a:prstGeom prst="rect">
            <a:avLst/>
          </a:prstGeom>
          <a:noFill/>
        </p:spPr>
        <p:txBody>
          <a:bodyPr wrap="square">
            <a:spAutoFit/>
          </a:bodyPr>
          <a:lstStyle/>
          <a:p>
            <a:pPr algn="l"/>
            <a:r>
              <a:rPr sz="1050" b="0">
                <a:solidFill>
                  <a:srgbClr val="4A4A4A"/>
                </a:solidFill>
                <a:latin typeface="Arial"/>
              </a:rPr>
              <a:t>Track message open rates, follower growth, chat interactions, and campaign performance in real time.</a:t>
            </a:r>
          </a:p>
        </p:txBody>
      </p:sp>
      <p:sp>
        <p:nvSpPr>
          <p:cNvPr id="34" name="Rectangle 33"/>
          <p:cNvSpPr/>
          <p:nvPr/>
        </p:nvSpPr>
        <p:spPr>
          <a:xfrm>
            <a:off x="320040" y="6016752"/>
            <a:ext cx="11567160" cy="27432"/>
          </a:xfrm>
          <a:prstGeom prst="rect">
            <a:avLst/>
          </a:prstGeom>
          <a:solidFill>
            <a:srgbClr val="E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E200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12024360" cy="105156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789920" y="164592"/>
            <a:ext cx="713232" cy="713232"/>
          </a:xfrm>
          <a:prstGeom prst="rect">
            <a:avLst/>
          </a:prstGeom>
          <a:solidFill>
            <a:srgbClr val="E200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744200" y="201168"/>
            <a:ext cx="822960" cy="548640"/>
          </a:xfrm>
          <a:prstGeom prst="rect">
            <a:avLst/>
          </a:prstGeom>
          <a:noFill/>
        </p:spPr>
        <p:txBody>
          <a:bodyPr wrap="square">
            <a:spAutoFit/>
          </a:bodyPr>
          <a:lstStyle/>
          <a:p>
            <a:pPr algn="ctr"/>
            <a:r>
              <a:rPr sz="700" b="1">
                <a:solidFill>
                  <a:srgbClr val="FFFFFF"/>
                </a:solidFill>
                <a:latin typeface="Arial"/>
              </a:rPr>
              <a:t>BOSCH</a:t>
            </a:r>
          </a:p>
        </p:txBody>
      </p:sp>
      <p:sp>
        <p:nvSpPr>
          <p:cNvPr id="6" name="TextBox 5"/>
          <p:cNvSpPr txBox="1"/>
          <p:nvPr/>
        </p:nvSpPr>
        <p:spPr>
          <a:xfrm>
            <a:off x="457200" y="182880"/>
            <a:ext cx="10058400" cy="685800"/>
          </a:xfrm>
          <a:prstGeom prst="rect">
            <a:avLst/>
          </a:prstGeom>
          <a:noFill/>
        </p:spPr>
        <p:txBody>
          <a:bodyPr wrap="square">
            <a:spAutoFit/>
          </a:bodyPr>
          <a:lstStyle/>
          <a:p>
            <a:pPr algn="l"/>
            <a:r>
              <a:rPr sz="2400" b="1">
                <a:solidFill>
                  <a:srgbClr val="FFFFFF"/>
                </a:solidFill>
                <a:latin typeface="Arial"/>
              </a:rPr>
              <a:t>Customer Service Benefits</a:t>
            </a:r>
          </a:p>
        </p:txBody>
      </p:sp>
      <p:sp>
        <p:nvSpPr>
          <p:cNvPr id="7" name="Rectangle 6"/>
          <p:cNvSpPr/>
          <p:nvPr/>
        </p:nvSpPr>
        <p:spPr>
          <a:xfrm>
            <a:off x="164592" y="1051560"/>
            <a:ext cx="12024360" cy="54864"/>
          </a:xfrm>
          <a:prstGeom prst="rect">
            <a:avLst/>
          </a:prstGeom>
          <a:solidFill>
            <a:srgbClr val="E200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64592" y="6492240"/>
            <a:ext cx="12024360" cy="36576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6510528"/>
            <a:ext cx="11612880" cy="274320"/>
          </a:xfrm>
          <a:prstGeom prst="rect">
            <a:avLst/>
          </a:prstGeom>
          <a:noFill/>
        </p:spPr>
        <p:txBody>
          <a:bodyPr wrap="square">
            <a:spAutoFit/>
          </a:bodyPr>
          <a:lstStyle/>
          <a:p>
            <a:pPr algn="l"/>
            <a:r>
              <a:rPr sz="900" b="0">
                <a:solidFill>
                  <a:srgbClr val="767676"/>
                </a:solidFill>
                <a:latin typeface="Arial"/>
              </a:rPr>
              <a:t>WhiteWings  |  LINE OA Solutions  |  2026</a:t>
            </a:r>
          </a:p>
        </p:txBody>
      </p:sp>
      <p:sp>
        <p:nvSpPr>
          <p:cNvPr id="10" name="Rectangle 9"/>
          <p:cNvSpPr/>
          <p:nvPr/>
        </p:nvSpPr>
        <p:spPr>
          <a:xfrm>
            <a:off x="320040" y="1298448"/>
            <a:ext cx="384048" cy="384048"/>
          </a:xfrm>
          <a:prstGeom prst="rect">
            <a:avLst/>
          </a:prstGeom>
          <a:solidFill>
            <a:srgbClr val="E200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0040" y="1316736"/>
            <a:ext cx="384048" cy="347472"/>
          </a:xfrm>
          <a:prstGeom prst="rect">
            <a:avLst/>
          </a:prstGeom>
          <a:noFill/>
        </p:spPr>
        <p:txBody>
          <a:bodyPr wrap="square">
            <a:spAutoFit/>
          </a:bodyPr>
          <a:lstStyle/>
          <a:p>
            <a:pPr algn="ctr"/>
            <a:r>
              <a:rPr sz="1300" b="1">
                <a:solidFill>
                  <a:srgbClr val="FFFFFF"/>
                </a:solidFill>
                <a:latin typeface="Arial"/>
              </a:rPr>
              <a:t>1</a:t>
            </a:r>
          </a:p>
        </p:txBody>
      </p:sp>
      <p:sp>
        <p:nvSpPr>
          <p:cNvPr id="12" name="TextBox 11"/>
          <p:cNvSpPr txBox="1"/>
          <p:nvPr/>
        </p:nvSpPr>
        <p:spPr>
          <a:xfrm>
            <a:off x="822960" y="1307592"/>
            <a:ext cx="11064240" cy="347472"/>
          </a:xfrm>
          <a:prstGeom prst="rect">
            <a:avLst/>
          </a:prstGeom>
          <a:noFill/>
        </p:spPr>
        <p:txBody>
          <a:bodyPr wrap="square">
            <a:spAutoFit/>
          </a:bodyPr>
          <a:lstStyle/>
          <a:p>
            <a:pPr algn="l"/>
            <a:r>
              <a:rPr sz="1300" b="1">
                <a:solidFill>
                  <a:srgbClr val="1A1A1A"/>
                </a:solidFill>
                <a:latin typeface="Arial"/>
              </a:rPr>
              <a:t>Multi-Agent Chat Management</a:t>
            </a:r>
          </a:p>
        </p:txBody>
      </p:sp>
      <p:sp>
        <p:nvSpPr>
          <p:cNvPr id="13" name="TextBox 12"/>
          <p:cNvSpPr txBox="1"/>
          <p:nvPr/>
        </p:nvSpPr>
        <p:spPr>
          <a:xfrm>
            <a:off x="822960" y="1645919"/>
            <a:ext cx="11064240" cy="384048"/>
          </a:xfrm>
          <a:prstGeom prst="rect">
            <a:avLst/>
          </a:prstGeom>
          <a:noFill/>
        </p:spPr>
        <p:txBody>
          <a:bodyPr wrap="square">
            <a:spAutoFit/>
          </a:bodyPr>
          <a:lstStyle/>
          <a:p>
            <a:pPr algn="l"/>
            <a:r>
              <a:rPr sz="1050" b="0">
                <a:solidFill>
                  <a:srgbClr val="4A4A4A"/>
                </a:solidFill>
                <a:latin typeface="Arial"/>
              </a:rPr>
              <a:t>Multiple staff members can manage and respond to customer chats simultaneously through one OA inbox.</a:t>
            </a:r>
          </a:p>
        </p:txBody>
      </p:sp>
      <p:sp>
        <p:nvSpPr>
          <p:cNvPr id="14" name="Rectangle 13"/>
          <p:cNvSpPr/>
          <p:nvPr/>
        </p:nvSpPr>
        <p:spPr>
          <a:xfrm>
            <a:off x="320040" y="2139696"/>
            <a:ext cx="11567160" cy="27432"/>
          </a:xfrm>
          <a:prstGeom prst="rect">
            <a:avLst/>
          </a:prstGeom>
          <a:solidFill>
            <a:srgbClr val="E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20040" y="2267712"/>
            <a:ext cx="384048" cy="384048"/>
          </a:xfrm>
          <a:prstGeom prst="rect">
            <a:avLst/>
          </a:prstGeom>
          <a:solidFill>
            <a:srgbClr val="E200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 y="2286000"/>
            <a:ext cx="384048" cy="347472"/>
          </a:xfrm>
          <a:prstGeom prst="rect">
            <a:avLst/>
          </a:prstGeom>
          <a:noFill/>
        </p:spPr>
        <p:txBody>
          <a:bodyPr wrap="square">
            <a:spAutoFit/>
          </a:bodyPr>
          <a:lstStyle/>
          <a:p>
            <a:pPr algn="ctr"/>
            <a:r>
              <a:rPr sz="1300" b="1">
                <a:solidFill>
                  <a:srgbClr val="FFFFFF"/>
                </a:solidFill>
                <a:latin typeface="Arial"/>
              </a:rPr>
              <a:t>2</a:t>
            </a:r>
          </a:p>
        </p:txBody>
      </p:sp>
      <p:sp>
        <p:nvSpPr>
          <p:cNvPr id="17" name="TextBox 16"/>
          <p:cNvSpPr txBox="1"/>
          <p:nvPr/>
        </p:nvSpPr>
        <p:spPr>
          <a:xfrm>
            <a:off x="822960" y="2276856"/>
            <a:ext cx="11064240" cy="347472"/>
          </a:xfrm>
          <a:prstGeom prst="rect">
            <a:avLst/>
          </a:prstGeom>
          <a:noFill/>
        </p:spPr>
        <p:txBody>
          <a:bodyPr wrap="square">
            <a:spAutoFit/>
          </a:bodyPr>
          <a:lstStyle/>
          <a:p>
            <a:pPr algn="l"/>
            <a:r>
              <a:rPr sz="1300" b="1">
                <a:solidFill>
                  <a:srgbClr val="1A1A1A"/>
                </a:solidFill>
                <a:latin typeface="Arial"/>
              </a:rPr>
              <a:t>Chat Tags &amp; Customer Labels</a:t>
            </a:r>
          </a:p>
        </p:txBody>
      </p:sp>
      <p:sp>
        <p:nvSpPr>
          <p:cNvPr id="18" name="TextBox 17"/>
          <p:cNvSpPr txBox="1"/>
          <p:nvPr/>
        </p:nvSpPr>
        <p:spPr>
          <a:xfrm>
            <a:off x="822960" y="2615184"/>
            <a:ext cx="11064240" cy="384048"/>
          </a:xfrm>
          <a:prstGeom prst="rect">
            <a:avLst/>
          </a:prstGeom>
          <a:noFill/>
        </p:spPr>
        <p:txBody>
          <a:bodyPr wrap="square">
            <a:spAutoFit/>
          </a:bodyPr>
          <a:lstStyle/>
          <a:p>
            <a:pPr algn="l"/>
            <a:r>
              <a:rPr sz="1050" b="0">
                <a:solidFill>
                  <a:srgbClr val="4A4A4A"/>
                </a:solidFill>
                <a:latin typeface="Arial"/>
              </a:rPr>
              <a:t>Organize conversations with custom tags and labels for efficient customer tracking and follow-up.</a:t>
            </a:r>
          </a:p>
        </p:txBody>
      </p:sp>
      <p:sp>
        <p:nvSpPr>
          <p:cNvPr id="19" name="Rectangle 18"/>
          <p:cNvSpPr/>
          <p:nvPr/>
        </p:nvSpPr>
        <p:spPr>
          <a:xfrm>
            <a:off x="320040" y="3108960"/>
            <a:ext cx="11567160" cy="27432"/>
          </a:xfrm>
          <a:prstGeom prst="rect">
            <a:avLst/>
          </a:prstGeom>
          <a:solidFill>
            <a:srgbClr val="E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20040" y="3236976"/>
            <a:ext cx="384048" cy="384048"/>
          </a:xfrm>
          <a:prstGeom prst="rect">
            <a:avLst/>
          </a:prstGeom>
          <a:solidFill>
            <a:srgbClr val="E200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0040" y="3255264"/>
            <a:ext cx="384048" cy="347472"/>
          </a:xfrm>
          <a:prstGeom prst="rect">
            <a:avLst/>
          </a:prstGeom>
          <a:noFill/>
        </p:spPr>
        <p:txBody>
          <a:bodyPr wrap="square">
            <a:spAutoFit/>
          </a:bodyPr>
          <a:lstStyle/>
          <a:p>
            <a:pPr algn="ctr"/>
            <a:r>
              <a:rPr sz="1300" b="1">
                <a:solidFill>
                  <a:srgbClr val="FFFFFF"/>
                </a:solidFill>
                <a:latin typeface="Arial"/>
              </a:rPr>
              <a:t>3</a:t>
            </a:r>
          </a:p>
        </p:txBody>
      </p:sp>
      <p:sp>
        <p:nvSpPr>
          <p:cNvPr id="22" name="TextBox 21"/>
          <p:cNvSpPr txBox="1"/>
          <p:nvPr/>
        </p:nvSpPr>
        <p:spPr>
          <a:xfrm>
            <a:off x="822960" y="3246120"/>
            <a:ext cx="11064240" cy="347472"/>
          </a:xfrm>
          <a:prstGeom prst="rect">
            <a:avLst/>
          </a:prstGeom>
          <a:noFill/>
        </p:spPr>
        <p:txBody>
          <a:bodyPr wrap="square">
            <a:spAutoFit/>
          </a:bodyPr>
          <a:lstStyle/>
          <a:p>
            <a:pPr algn="l"/>
            <a:r>
              <a:rPr sz="1300" b="1">
                <a:solidFill>
                  <a:srgbClr val="1A1A1A"/>
                </a:solidFill>
                <a:latin typeface="Arial"/>
              </a:rPr>
              <a:t>Automated Welcome Messages</a:t>
            </a:r>
          </a:p>
        </p:txBody>
      </p:sp>
      <p:sp>
        <p:nvSpPr>
          <p:cNvPr id="23" name="TextBox 22"/>
          <p:cNvSpPr txBox="1"/>
          <p:nvPr/>
        </p:nvSpPr>
        <p:spPr>
          <a:xfrm>
            <a:off x="822960" y="3584448"/>
            <a:ext cx="11064240" cy="384048"/>
          </a:xfrm>
          <a:prstGeom prst="rect">
            <a:avLst/>
          </a:prstGeom>
          <a:noFill/>
        </p:spPr>
        <p:txBody>
          <a:bodyPr wrap="square">
            <a:spAutoFit/>
          </a:bodyPr>
          <a:lstStyle/>
          <a:p>
            <a:pPr algn="l"/>
            <a:r>
              <a:rPr sz="1050" b="0">
                <a:solidFill>
                  <a:srgbClr val="4A4A4A"/>
                </a:solidFill>
                <a:latin typeface="Arial"/>
              </a:rPr>
              <a:t>Greet every new follower instantly with a personalized welcome message and onboarding flow.</a:t>
            </a:r>
          </a:p>
        </p:txBody>
      </p:sp>
      <p:sp>
        <p:nvSpPr>
          <p:cNvPr id="24" name="Rectangle 23"/>
          <p:cNvSpPr/>
          <p:nvPr/>
        </p:nvSpPr>
        <p:spPr>
          <a:xfrm>
            <a:off x="320040" y="4078224"/>
            <a:ext cx="11567160" cy="27432"/>
          </a:xfrm>
          <a:prstGeom prst="rect">
            <a:avLst/>
          </a:prstGeom>
          <a:solidFill>
            <a:srgbClr val="E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20040" y="4206240"/>
            <a:ext cx="384048" cy="384048"/>
          </a:xfrm>
          <a:prstGeom prst="rect">
            <a:avLst/>
          </a:prstGeom>
          <a:solidFill>
            <a:srgbClr val="E200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0040" y="4224528"/>
            <a:ext cx="384048" cy="347472"/>
          </a:xfrm>
          <a:prstGeom prst="rect">
            <a:avLst/>
          </a:prstGeom>
          <a:noFill/>
        </p:spPr>
        <p:txBody>
          <a:bodyPr wrap="square">
            <a:spAutoFit/>
          </a:bodyPr>
          <a:lstStyle/>
          <a:p>
            <a:pPr algn="ctr"/>
            <a:r>
              <a:rPr sz="1300" b="1">
                <a:solidFill>
                  <a:srgbClr val="FFFFFF"/>
                </a:solidFill>
                <a:latin typeface="Arial"/>
              </a:rPr>
              <a:t>4</a:t>
            </a:r>
          </a:p>
        </p:txBody>
      </p:sp>
      <p:sp>
        <p:nvSpPr>
          <p:cNvPr id="27" name="TextBox 26"/>
          <p:cNvSpPr txBox="1"/>
          <p:nvPr/>
        </p:nvSpPr>
        <p:spPr>
          <a:xfrm>
            <a:off x="822960" y="4215384"/>
            <a:ext cx="11064240" cy="347472"/>
          </a:xfrm>
          <a:prstGeom prst="rect">
            <a:avLst/>
          </a:prstGeom>
          <a:noFill/>
        </p:spPr>
        <p:txBody>
          <a:bodyPr wrap="square">
            <a:spAutoFit/>
          </a:bodyPr>
          <a:lstStyle/>
          <a:p>
            <a:pPr algn="l"/>
            <a:r>
              <a:rPr sz="1300" b="1">
                <a:solidFill>
                  <a:srgbClr val="1A1A1A"/>
                </a:solidFill>
                <a:latin typeface="Arial"/>
              </a:rPr>
              <a:t>Appointment &amp; Booking Systems</a:t>
            </a:r>
          </a:p>
        </p:txBody>
      </p:sp>
      <p:sp>
        <p:nvSpPr>
          <p:cNvPr id="28" name="TextBox 27"/>
          <p:cNvSpPr txBox="1"/>
          <p:nvPr/>
        </p:nvSpPr>
        <p:spPr>
          <a:xfrm>
            <a:off x="822960" y="4553712"/>
            <a:ext cx="11064240" cy="384048"/>
          </a:xfrm>
          <a:prstGeom prst="rect">
            <a:avLst/>
          </a:prstGeom>
          <a:noFill/>
        </p:spPr>
        <p:txBody>
          <a:bodyPr wrap="square">
            <a:spAutoFit/>
          </a:bodyPr>
          <a:lstStyle/>
          <a:p>
            <a:pPr algn="l"/>
            <a:r>
              <a:rPr sz="1050" b="0">
                <a:solidFill>
                  <a:srgbClr val="4A4A4A"/>
                </a:solidFill>
                <a:latin typeface="Arial"/>
              </a:rPr>
              <a:t>Integrate booking modules so customers can schedule appointments directly within the LINE conversation.</a:t>
            </a:r>
          </a:p>
        </p:txBody>
      </p:sp>
      <p:sp>
        <p:nvSpPr>
          <p:cNvPr id="29" name="Rectangle 28"/>
          <p:cNvSpPr/>
          <p:nvPr/>
        </p:nvSpPr>
        <p:spPr>
          <a:xfrm>
            <a:off x="320040" y="5047488"/>
            <a:ext cx="11567160" cy="27432"/>
          </a:xfrm>
          <a:prstGeom prst="rect">
            <a:avLst/>
          </a:prstGeom>
          <a:solidFill>
            <a:srgbClr val="E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20040" y="5175504"/>
            <a:ext cx="384048" cy="384048"/>
          </a:xfrm>
          <a:prstGeom prst="rect">
            <a:avLst/>
          </a:prstGeom>
          <a:solidFill>
            <a:srgbClr val="E200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20040" y="5193792"/>
            <a:ext cx="384048" cy="347472"/>
          </a:xfrm>
          <a:prstGeom prst="rect">
            <a:avLst/>
          </a:prstGeom>
          <a:noFill/>
        </p:spPr>
        <p:txBody>
          <a:bodyPr wrap="square">
            <a:spAutoFit/>
          </a:bodyPr>
          <a:lstStyle/>
          <a:p>
            <a:pPr algn="ctr"/>
            <a:r>
              <a:rPr sz="1300" b="1">
                <a:solidFill>
                  <a:srgbClr val="FFFFFF"/>
                </a:solidFill>
                <a:latin typeface="Arial"/>
              </a:rPr>
              <a:t>5</a:t>
            </a:r>
          </a:p>
        </p:txBody>
      </p:sp>
      <p:sp>
        <p:nvSpPr>
          <p:cNvPr id="32" name="TextBox 31"/>
          <p:cNvSpPr txBox="1"/>
          <p:nvPr/>
        </p:nvSpPr>
        <p:spPr>
          <a:xfrm>
            <a:off x="822960" y="5184648"/>
            <a:ext cx="11064240" cy="347472"/>
          </a:xfrm>
          <a:prstGeom prst="rect">
            <a:avLst/>
          </a:prstGeom>
          <a:noFill/>
        </p:spPr>
        <p:txBody>
          <a:bodyPr wrap="square">
            <a:spAutoFit/>
          </a:bodyPr>
          <a:lstStyle/>
          <a:p>
            <a:pPr algn="l"/>
            <a:r>
              <a:rPr sz="1300" b="1">
                <a:solidFill>
                  <a:srgbClr val="1A1A1A"/>
                </a:solidFill>
                <a:latin typeface="Arial"/>
              </a:rPr>
              <a:t>Order Status &amp; Notifications</a:t>
            </a:r>
          </a:p>
        </p:txBody>
      </p:sp>
      <p:sp>
        <p:nvSpPr>
          <p:cNvPr id="33" name="TextBox 32"/>
          <p:cNvSpPr txBox="1"/>
          <p:nvPr/>
        </p:nvSpPr>
        <p:spPr>
          <a:xfrm>
            <a:off x="822960" y="5522976"/>
            <a:ext cx="11064240" cy="384048"/>
          </a:xfrm>
          <a:prstGeom prst="rect">
            <a:avLst/>
          </a:prstGeom>
          <a:noFill/>
        </p:spPr>
        <p:txBody>
          <a:bodyPr wrap="square">
            <a:spAutoFit/>
          </a:bodyPr>
          <a:lstStyle/>
          <a:p>
            <a:pPr algn="l"/>
            <a:r>
              <a:rPr sz="1050" b="0">
                <a:solidFill>
                  <a:srgbClr val="4A4A4A"/>
                </a:solidFill>
                <a:latin typeface="Arial"/>
              </a:rPr>
              <a:t>Send transactional notifications like order confirmations, shipping updates, and payment receipts via chat.</a:t>
            </a:r>
          </a:p>
        </p:txBody>
      </p:sp>
      <p:sp>
        <p:nvSpPr>
          <p:cNvPr id="34" name="Rectangle 33"/>
          <p:cNvSpPr/>
          <p:nvPr/>
        </p:nvSpPr>
        <p:spPr>
          <a:xfrm>
            <a:off x="320040" y="6016752"/>
            <a:ext cx="11567160" cy="27432"/>
          </a:xfrm>
          <a:prstGeom prst="rect">
            <a:avLst/>
          </a:prstGeom>
          <a:solidFill>
            <a:srgbClr val="E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E200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12024360" cy="105156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789920" y="164592"/>
            <a:ext cx="713232" cy="713232"/>
          </a:xfrm>
          <a:prstGeom prst="rect">
            <a:avLst/>
          </a:prstGeom>
          <a:solidFill>
            <a:srgbClr val="E200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744200" y="201168"/>
            <a:ext cx="822960" cy="548640"/>
          </a:xfrm>
          <a:prstGeom prst="rect">
            <a:avLst/>
          </a:prstGeom>
          <a:noFill/>
        </p:spPr>
        <p:txBody>
          <a:bodyPr wrap="square">
            <a:spAutoFit/>
          </a:bodyPr>
          <a:lstStyle/>
          <a:p>
            <a:pPr algn="ctr"/>
            <a:r>
              <a:rPr sz="700" b="1">
                <a:solidFill>
                  <a:srgbClr val="FFFFFF"/>
                </a:solidFill>
                <a:latin typeface="Arial"/>
              </a:rPr>
              <a:t>BOSCH</a:t>
            </a:r>
          </a:p>
        </p:txBody>
      </p:sp>
      <p:sp>
        <p:nvSpPr>
          <p:cNvPr id="6" name="TextBox 5"/>
          <p:cNvSpPr txBox="1"/>
          <p:nvPr/>
        </p:nvSpPr>
        <p:spPr>
          <a:xfrm>
            <a:off x="457200" y="182880"/>
            <a:ext cx="10058400" cy="685800"/>
          </a:xfrm>
          <a:prstGeom prst="rect">
            <a:avLst/>
          </a:prstGeom>
          <a:noFill/>
        </p:spPr>
        <p:txBody>
          <a:bodyPr wrap="square">
            <a:spAutoFit/>
          </a:bodyPr>
          <a:lstStyle/>
          <a:p>
            <a:pPr algn="l"/>
            <a:r>
              <a:rPr sz="2400" b="1">
                <a:solidFill>
                  <a:srgbClr val="FFFFFF"/>
                </a:solidFill>
                <a:latin typeface="Arial"/>
              </a:rPr>
              <a:t>Technical &amp; Integration Benefits</a:t>
            </a:r>
          </a:p>
        </p:txBody>
      </p:sp>
      <p:sp>
        <p:nvSpPr>
          <p:cNvPr id="7" name="Rectangle 6"/>
          <p:cNvSpPr/>
          <p:nvPr/>
        </p:nvSpPr>
        <p:spPr>
          <a:xfrm>
            <a:off x="164592" y="1051560"/>
            <a:ext cx="12024360" cy="54864"/>
          </a:xfrm>
          <a:prstGeom prst="rect">
            <a:avLst/>
          </a:prstGeom>
          <a:solidFill>
            <a:srgbClr val="E200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64592" y="6492240"/>
            <a:ext cx="12024360" cy="36576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6510528"/>
            <a:ext cx="11612880" cy="274320"/>
          </a:xfrm>
          <a:prstGeom prst="rect">
            <a:avLst/>
          </a:prstGeom>
          <a:noFill/>
        </p:spPr>
        <p:txBody>
          <a:bodyPr wrap="square">
            <a:spAutoFit/>
          </a:bodyPr>
          <a:lstStyle/>
          <a:p>
            <a:pPr algn="l"/>
            <a:r>
              <a:rPr sz="900" b="0">
                <a:solidFill>
                  <a:srgbClr val="767676"/>
                </a:solidFill>
                <a:latin typeface="Arial"/>
              </a:rPr>
              <a:t>WhiteWings  |  LINE OA Solutions  |  2026</a:t>
            </a:r>
          </a:p>
        </p:txBody>
      </p:sp>
      <p:sp>
        <p:nvSpPr>
          <p:cNvPr id="10" name="Rectangle 9"/>
          <p:cNvSpPr/>
          <p:nvPr/>
        </p:nvSpPr>
        <p:spPr>
          <a:xfrm>
            <a:off x="320040" y="1298448"/>
            <a:ext cx="384048" cy="384048"/>
          </a:xfrm>
          <a:prstGeom prst="rect">
            <a:avLst/>
          </a:prstGeom>
          <a:solidFill>
            <a:srgbClr val="E200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0040" y="1316736"/>
            <a:ext cx="384048" cy="347472"/>
          </a:xfrm>
          <a:prstGeom prst="rect">
            <a:avLst/>
          </a:prstGeom>
          <a:noFill/>
        </p:spPr>
        <p:txBody>
          <a:bodyPr wrap="square">
            <a:spAutoFit/>
          </a:bodyPr>
          <a:lstStyle/>
          <a:p>
            <a:pPr algn="ctr"/>
            <a:r>
              <a:rPr sz="1300" b="1">
                <a:solidFill>
                  <a:srgbClr val="FFFFFF"/>
                </a:solidFill>
                <a:latin typeface="Arial"/>
              </a:rPr>
              <a:t>1</a:t>
            </a:r>
          </a:p>
        </p:txBody>
      </p:sp>
      <p:sp>
        <p:nvSpPr>
          <p:cNvPr id="12" name="TextBox 11"/>
          <p:cNvSpPr txBox="1"/>
          <p:nvPr/>
        </p:nvSpPr>
        <p:spPr>
          <a:xfrm>
            <a:off x="822960" y="1307592"/>
            <a:ext cx="11064240" cy="347472"/>
          </a:xfrm>
          <a:prstGeom prst="rect">
            <a:avLst/>
          </a:prstGeom>
          <a:noFill/>
        </p:spPr>
        <p:txBody>
          <a:bodyPr wrap="square">
            <a:spAutoFit/>
          </a:bodyPr>
          <a:lstStyle/>
          <a:p>
            <a:pPr algn="l"/>
            <a:r>
              <a:rPr sz="1300" b="1">
                <a:solidFill>
                  <a:srgbClr val="1A1A1A"/>
                </a:solidFill>
                <a:latin typeface="Arial"/>
              </a:rPr>
              <a:t>LINE Login &amp; Social Authentication</a:t>
            </a:r>
          </a:p>
        </p:txBody>
      </p:sp>
      <p:sp>
        <p:nvSpPr>
          <p:cNvPr id="13" name="TextBox 12"/>
          <p:cNvSpPr txBox="1"/>
          <p:nvPr/>
        </p:nvSpPr>
        <p:spPr>
          <a:xfrm>
            <a:off x="822960" y="1645919"/>
            <a:ext cx="11064240" cy="384048"/>
          </a:xfrm>
          <a:prstGeom prst="rect">
            <a:avLst/>
          </a:prstGeom>
          <a:noFill/>
        </p:spPr>
        <p:txBody>
          <a:bodyPr wrap="square">
            <a:spAutoFit/>
          </a:bodyPr>
          <a:lstStyle/>
          <a:p>
            <a:pPr algn="l"/>
            <a:r>
              <a:rPr sz="1050" b="0">
                <a:solidFill>
                  <a:srgbClr val="4A4A4A"/>
                </a:solidFill>
                <a:latin typeface="Arial"/>
              </a:rPr>
              <a:t>Enable users to log in to your website or app using their LINE account for a frictionless experience.</a:t>
            </a:r>
          </a:p>
        </p:txBody>
      </p:sp>
      <p:sp>
        <p:nvSpPr>
          <p:cNvPr id="14" name="Rectangle 13"/>
          <p:cNvSpPr/>
          <p:nvPr/>
        </p:nvSpPr>
        <p:spPr>
          <a:xfrm>
            <a:off x="320040" y="2139696"/>
            <a:ext cx="11567160" cy="27432"/>
          </a:xfrm>
          <a:prstGeom prst="rect">
            <a:avLst/>
          </a:prstGeom>
          <a:solidFill>
            <a:srgbClr val="E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20040" y="2267712"/>
            <a:ext cx="384048" cy="384048"/>
          </a:xfrm>
          <a:prstGeom prst="rect">
            <a:avLst/>
          </a:prstGeom>
          <a:solidFill>
            <a:srgbClr val="E200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 y="2286000"/>
            <a:ext cx="384048" cy="347472"/>
          </a:xfrm>
          <a:prstGeom prst="rect">
            <a:avLst/>
          </a:prstGeom>
          <a:noFill/>
        </p:spPr>
        <p:txBody>
          <a:bodyPr wrap="square">
            <a:spAutoFit/>
          </a:bodyPr>
          <a:lstStyle/>
          <a:p>
            <a:pPr algn="ctr"/>
            <a:r>
              <a:rPr sz="1300" b="1">
                <a:solidFill>
                  <a:srgbClr val="FFFFFF"/>
                </a:solidFill>
                <a:latin typeface="Arial"/>
              </a:rPr>
              <a:t>2</a:t>
            </a:r>
          </a:p>
        </p:txBody>
      </p:sp>
      <p:sp>
        <p:nvSpPr>
          <p:cNvPr id="17" name="TextBox 16"/>
          <p:cNvSpPr txBox="1"/>
          <p:nvPr/>
        </p:nvSpPr>
        <p:spPr>
          <a:xfrm>
            <a:off x="822960" y="2276856"/>
            <a:ext cx="11064240" cy="347472"/>
          </a:xfrm>
          <a:prstGeom prst="rect">
            <a:avLst/>
          </a:prstGeom>
          <a:noFill/>
        </p:spPr>
        <p:txBody>
          <a:bodyPr wrap="square">
            <a:spAutoFit/>
          </a:bodyPr>
          <a:lstStyle/>
          <a:p>
            <a:pPr algn="l"/>
            <a:r>
              <a:rPr sz="1300" b="1">
                <a:solidFill>
                  <a:srgbClr val="1A1A1A"/>
                </a:solidFill>
                <a:latin typeface="Arial"/>
              </a:rPr>
              <a:t>Messaging API &amp; Webhooks</a:t>
            </a:r>
          </a:p>
        </p:txBody>
      </p:sp>
      <p:sp>
        <p:nvSpPr>
          <p:cNvPr id="18" name="TextBox 17"/>
          <p:cNvSpPr txBox="1"/>
          <p:nvPr/>
        </p:nvSpPr>
        <p:spPr>
          <a:xfrm>
            <a:off x="822960" y="2615184"/>
            <a:ext cx="11064240" cy="384048"/>
          </a:xfrm>
          <a:prstGeom prst="rect">
            <a:avLst/>
          </a:prstGeom>
          <a:noFill/>
        </p:spPr>
        <p:txBody>
          <a:bodyPr wrap="square">
            <a:spAutoFit/>
          </a:bodyPr>
          <a:lstStyle/>
          <a:p>
            <a:pPr algn="l"/>
            <a:r>
              <a:rPr sz="1050" b="0">
                <a:solidFill>
                  <a:srgbClr val="4A4A4A"/>
                </a:solidFill>
                <a:latin typeface="Arial"/>
              </a:rPr>
              <a:t>Use the LINE Messaging API to build custom bots, integrate CRM systems, and automate workflows.</a:t>
            </a:r>
          </a:p>
        </p:txBody>
      </p:sp>
      <p:sp>
        <p:nvSpPr>
          <p:cNvPr id="19" name="Rectangle 18"/>
          <p:cNvSpPr/>
          <p:nvPr/>
        </p:nvSpPr>
        <p:spPr>
          <a:xfrm>
            <a:off x="320040" y="3108960"/>
            <a:ext cx="11567160" cy="27432"/>
          </a:xfrm>
          <a:prstGeom prst="rect">
            <a:avLst/>
          </a:prstGeom>
          <a:solidFill>
            <a:srgbClr val="E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20040" y="3236976"/>
            <a:ext cx="384048" cy="384048"/>
          </a:xfrm>
          <a:prstGeom prst="rect">
            <a:avLst/>
          </a:prstGeom>
          <a:solidFill>
            <a:srgbClr val="E200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0040" y="3255264"/>
            <a:ext cx="384048" cy="347472"/>
          </a:xfrm>
          <a:prstGeom prst="rect">
            <a:avLst/>
          </a:prstGeom>
          <a:noFill/>
        </p:spPr>
        <p:txBody>
          <a:bodyPr wrap="square">
            <a:spAutoFit/>
          </a:bodyPr>
          <a:lstStyle/>
          <a:p>
            <a:pPr algn="ctr"/>
            <a:r>
              <a:rPr sz="1300" b="1">
                <a:solidFill>
                  <a:srgbClr val="FFFFFF"/>
                </a:solidFill>
                <a:latin typeface="Arial"/>
              </a:rPr>
              <a:t>3</a:t>
            </a:r>
          </a:p>
        </p:txBody>
      </p:sp>
      <p:sp>
        <p:nvSpPr>
          <p:cNvPr id="22" name="TextBox 21"/>
          <p:cNvSpPr txBox="1"/>
          <p:nvPr/>
        </p:nvSpPr>
        <p:spPr>
          <a:xfrm>
            <a:off x="822960" y="3246120"/>
            <a:ext cx="11064240" cy="347472"/>
          </a:xfrm>
          <a:prstGeom prst="rect">
            <a:avLst/>
          </a:prstGeom>
          <a:noFill/>
        </p:spPr>
        <p:txBody>
          <a:bodyPr wrap="square">
            <a:spAutoFit/>
          </a:bodyPr>
          <a:lstStyle/>
          <a:p>
            <a:pPr algn="l"/>
            <a:r>
              <a:rPr sz="1300" b="1">
                <a:solidFill>
                  <a:srgbClr val="1A1A1A"/>
                </a:solidFill>
                <a:latin typeface="Arial"/>
              </a:rPr>
              <a:t>LIFF (LINE Front-end Framework)</a:t>
            </a:r>
          </a:p>
        </p:txBody>
      </p:sp>
      <p:sp>
        <p:nvSpPr>
          <p:cNvPr id="23" name="TextBox 22"/>
          <p:cNvSpPr txBox="1"/>
          <p:nvPr/>
        </p:nvSpPr>
        <p:spPr>
          <a:xfrm>
            <a:off x="822960" y="3584448"/>
            <a:ext cx="11064240" cy="384048"/>
          </a:xfrm>
          <a:prstGeom prst="rect">
            <a:avLst/>
          </a:prstGeom>
          <a:noFill/>
        </p:spPr>
        <p:txBody>
          <a:bodyPr wrap="square">
            <a:spAutoFit/>
          </a:bodyPr>
          <a:lstStyle/>
          <a:p>
            <a:pPr algn="l"/>
            <a:r>
              <a:rPr sz="1050" b="0">
                <a:solidFill>
                  <a:srgbClr val="4A4A4A"/>
                </a:solidFill>
                <a:latin typeface="Arial"/>
              </a:rPr>
              <a:t>Build mini web apps that run inside LINE, delivering rich interactive experiences without leaving the app.</a:t>
            </a:r>
          </a:p>
        </p:txBody>
      </p:sp>
      <p:sp>
        <p:nvSpPr>
          <p:cNvPr id="24" name="Rectangle 23"/>
          <p:cNvSpPr/>
          <p:nvPr/>
        </p:nvSpPr>
        <p:spPr>
          <a:xfrm>
            <a:off x="320040" y="4078224"/>
            <a:ext cx="11567160" cy="27432"/>
          </a:xfrm>
          <a:prstGeom prst="rect">
            <a:avLst/>
          </a:prstGeom>
          <a:solidFill>
            <a:srgbClr val="E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20040" y="4206240"/>
            <a:ext cx="384048" cy="384048"/>
          </a:xfrm>
          <a:prstGeom prst="rect">
            <a:avLst/>
          </a:prstGeom>
          <a:solidFill>
            <a:srgbClr val="E200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0040" y="4224528"/>
            <a:ext cx="384048" cy="347472"/>
          </a:xfrm>
          <a:prstGeom prst="rect">
            <a:avLst/>
          </a:prstGeom>
          <a:noFill/>
        </p:spPr>
        <p:txBody>
          <a:bodyPr wrap="square">
            <a:spAutoFit/>
          </a:bodyPr>
          <a:lstStyle/>
          <a:p>
            <a:pPr algn="ctr"/>
            <a:r>
              <a:rPr sz="1300" b="1">
                <a:solidFill>
                  <a:srgbClr val="FFFFFF"/>
                </a:solidFill>
                <a:latin typeface="Arial"/>
              </a:rPr>
              <a:t>4</a:t>
            </a:r>
          </a:p>
        </p:txBody>
      </p:sp>
      <p:sp>
        <p:nvSpPr>
          <p:cNvPr id="27" name="TextBox 26"/>
          <p:cNvSpPr txBox="1"/>
          <p:nvPr/>
        </p:nvSpPr>
        <p:spPr>
          <a:xfrm>
            <a:off x="822960" y="4215384"/>
            <a:ext cx="11064240" cy="347472"/>
          </a:xfrm>
          <a:prstGeom prst="rect">
            <a:avLst/>
          </a:prstGeom>
          <a:noFill/>
        </p:spPr>
        <p:txBody>
          <a:bodyPr wrap="square">
            <a:spAutoFit/>
          </a:bodyPr>
          <a:lstStyle/>
          <a:p>
            <a:pPr algn="l"/>
            <a:r>
              <a:rPr sz="1300" b="1">
                <a:solidFill>
                  <a:srgbClr val="1A1A1A"/>
                </a:solidFill>
                <a:latin typeface="Arial"/>
              </a:rPr>
              <a:t>CRM &amp; Third-Party Integration</a:t>
            </a:r>
          </a:p>
        </p:txBody>
      </p:sp>
      <p:sp>
        <p:nvSpPr>
          <p:cNvPr id="28" name="TextBox 27"/>
          <p:cNvSpPr txBox="1"/>
          <p:nvPr/>
        </p:nvSpPr>
        <p:spPr>
          <a:xfrm>
            <a:off x="822960" y="4553712"/>
            <a:ext cx="11064240" cy="384048"/>
          </a:xfrm>
          <a:prstGeom prst="rect">
            <a:avLst/>
          </a:prstGeom>
          <a:noFill/>
        </p:spPr>
        <p:txBody>
          <a:bodyPr wrap="square">
            <a:spAutoFit/>
          </a:bodyPr>
          <a:lstStyle/>
          <a:p>
            <a:pPr algn="l"/>
            <a:r>
              <a:rPr sz="1050" b="0">
                <a:solidFill>
                  <a:srgbClr val="4A4A4A"/>
                </a:solidFill>
                <a:latin typeface="Arial"/>
              </a:rPr>
              <a:t>Connect LINE OA with Salesforce, HubSpot, Zapier, and other tools for unified customer data management.</a:t>
            </a:r>
          </a:p>
        </p:txBody>
      </p:sp>
      <p:sp>
        <p:nvSpPr>
          <p:cNvPr id="29" name="Rectangle 28"/>
          <p:cNvSpPr/>
          <p:nvPr/>
        </p:nvSpPr>
        <p:spPr>
          <a:xfrm>
            <a:off x="320040" y="5047488"/>
            <a:ext cx="11567160" cy="27432"/>
          </a:xfrm>
          <a:prstGeom prst="rect">
            <a:avLst/>
          </a:prstGeom>
          <a:solidFill>
            <a:srgbClr val="E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20040" y="5175504"/>
            <a:ext cx="384048" cy="384048"/>
          </a:xfrm>
          <a:prstGeom prst="rect">
            <a:avLst/>
          </a:prstGeom>
          <a:solidFill>
            <a:srgbClr val="E200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20040" y="5193792"/>
            <a:ext cx="384048" cy="347472"/>
          </a:xfrm>
          <a:prstGeom prst="rect">
            <a:avLst/>
          </a:prstGeom>
          <a:noFill/>
        </p:spPr>
        <p:txBody>
          <a:bodyPr wrap="square">
            <a:spAutoFit/>
          </a:bodyPr>
          <a:lstStyle/>
          <a:p>
            <a:pPr algn="ctr"/>
            <a:r>
              <a:rPr sz="1300" b="1">
                <a:solidFill>
                  <a:srgbClr val="FFFFFF"/>
                </a:solidFill>
                <a:latin typeface="Arial"/>
              </a:rPr>
              <a:t>5</a:t>
            </a:r>
          </a:p>
        </p:txBody>
      </p:sp>
      <p:sp>
        <p:nvSpPr>
          <p:cNvPr id="32" name="TextBox 31"/>
          <p:cNvSpPr txBox="1"/>
          <p:nvPr/>
        </p:nvSpPr>
        <p:spPr>
          <a:xfrm>
            <a:off x="822960" y="5184648"/>
            <a:ext cx="11064240" cy="347472"/>
          </a:xfrm>
          <a:prstGeom prst="rect">
            <a:avLst/>
          </a:prstGeom>
          <a:noFill/>
        </p:spPr>
        <p:txBody>
          <a:bodyPr wrap="square">
            <a:spAutoFit/>
          </a:bodyPr>
          <a:lstStyle/>
          <a:p>
            <a:pPr algn="l"/>
            <a:r>
              <a:rPr sz="1300" b="1">
                <a:solidFill>
                  <a:srgbClr val="1A1A1A"/>
                </a:solidFill>
                <a:latin typeface="Arial"/>
              </a:rPr>
              <a:t>LINE Pay Integration</a:t>
            </a:r>
          </a:p>
        </p:txBody>
      </p:sp>
      <p:sp>
        <p:nvSpPr>
          <p:cNvPr id="33" name="TextBox 32"/>
          <p:cNvSpPr txBox="1"/>
          <p:nvPr/>
        </p:nvSpPr>
        <p:spPr>
          <a:xfrm>
            <a:off x="822960" y="5522976"/>
            <a:ext cx="11064240" cy="384048"/>
          </a:xfrm>
          <a:prstGeom prst="rect">
            <a:avLst/>
          </a:prstGeom>
          <a:noFill/>
        </p:spPr>
        <p:txBody>
          <a:bodyPr wrap="square">
            <a:spAutoFit/>
          </a:bodyPr>
          <a:lstStyle/>
          <a:p>
            <a:pPr algn="l"/>
            <a:r>
              <a:rPr sz="1050" b="0">
                <a:solidFill>
                  <a:srgbClr val="4A4A4A"/>
                </a:solidFill>
                <a:latin typeface="Arial"/>
              </a:rPr>
              <a:t>Accept payments seamlessly within LINE conversations using LINE Pay for a smooth checkout experience.</a:t>
            </a:r>
          </a:p>
        </p:txBody>
      </p:sp>
      <p:sp>
        <p:nvSpPr>
          <p:cNvPr id="34" name="Rectangle 33"/>
          <p:cNvSpPr/>
          <p:nvPr/>
        </p:nvSpPr>
        <p:spPr>
          <a:xfrm>
            <a:off x="320040" y="6016752"/>
            <a:ext cx="11567160" cy="27432"/>
          </a:xfrm>
          <a:prstGeom prst="rect">
            <a:avLst/>
          </a:prstGeom>
          <a:solidFill>
            <a:srgbClr val="E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E200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12024360" cy="105156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789920" y="164592"/>
            <a:ext cx="713232" cy="713232"/>
          </a:xfrm>
          <a:prstGeom prst="rect">
            <a:avLst/>
          </a:prstGeom>
          <a:solidFill>
            <a:srgbClr val="E200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744200" y="201168"/>
            <a:ext cx="822960" cy="548640"/>
          </a:xfrm>
          <a:prstGeom prst="rect">
            <a:avLst/>
          </a:prstGeom>
          <a:noFill/>
        </p:spPr>
        <p:txBody>
          <a:bodyPr wrap="square">
            <a:spAutoFit/>
          </a:bodyPr>
          <a:lstStyle/>
          <a:p>
            <a:pPr algn="ctr"/>
            <a:r>
              <a:rPr sz="700" b="1">
                <a:solidFill>
                  <a:srgbClr val="FFFFFF"/>
                </a:solidFill>
                <a:latin typeface="Arial"/>
              </a:rPr>
              <a:t>BOSCH</a:t>
            </a:r>
          </a:p>
        </p:txBody>
      </p:sp>
      <p:sp>
        <p:nvSpPr>
          <p:cNvPr id="6" name="TextBox 5"/>
          <p:cNvSpPr txBox="1"/>
          <p:nvPr/>
        </p:nvSpPr>
        <p:spPr>
          <a:xfrm>
            <a:off x="457200" y="182880"/>
            <a:ext cx="10058400" cy="685800"/>
          </a:xfrm>
          <a:prstGeom prst="rect">
            <a:avLst/>
          </a:prstGeom>
          <a:noFill/>
        </p:spPr>
        <p:txBody>
          <a:bodyPr wrap="square">
            <a:spAutoFit/>
          </a:bodyPr>
          <a:lstStyle/>
          <a:p>
            <a:pPr algn="l"/>
            <a:r>
              <a:rPr sz="2400" b="1">
                <a:solidFill>
                  <a:srgbClr val="FFFFFF"/>
                </a:solidFill>
                <a:latin typeface="Arial"/>
              </a:rPr>
              <a:t>Plans &amp; Pricing Overview</a:t>
            </a:r>
          </a:p>
        </p:txBody>
      </p:sp>
      <p:sp>
        <p:nvSpPr>
          <p:cNvPr id="7" name="Rectangle 6"/>
          <p:cNvSpPr/>
          <p:nvPr/>
        </p:nvSpPr>
        <p:spPr>
          <a:xfrm>
            <a:off x="164592" y="1051560"/>
            <a:ext cx="12024360" cy="54864"/>
          </a:xfrm>
          <a:prstGeom prst="rect">
            <a:avLst/>
          </a:prstGeom>
          <a:solidFill>
            <a:srgbClr val="E200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64592" y="6492240"/>
            <a:ext cx="12024360" cy="36576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6510528"/>
            <a:ext cx="11612880" cy="274320"/>
          </a:xfrm>
          <a:prstGeom prst="rect">
            <a:avLst/>
          </a:prstGeom>
          <a:noFill/>
        </p:spPr>
        <p:txBody>
          <a:bodyPr wrap="square">
            <a:spAutoFit/>
          </a:bodyPr>
          <a:lstStyle/>
          <a:p>
            <a:pPr algn="l"/>
            <a:r>
              <a:rPr sz="900" b="0">
                <a:solidFill>
                  <a:srgbClr val="767676"/>
                </a:solidFill>
                <a:latin typeface="Arial"/>
              </a:rPr>
              <a:t>WhiteWings  |  LINE OA Solutions  |  2026</a:t>
            </a:r>
          </a:p>
        </p:txBody>
      </p:sp>
      <p:sp>
        <p:nvSpPr>
          <p:cNvPr id="10" name="Rectangle 9"/>
          <p:cNvSpPr/>
          <p:nvPr/>
        </p:nvSpPr>
        <p:spPr>
          <a:xfrm>
            <a:off x="320040" y="1261872"/>
            <a:ext cx="3749039" cy="50292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 y="1261872"/>
            <a:ext cx="3749039" cy="1005840"/>
          </a:xfrm>
          <a:prstGeom prst="rect">
            <a:avLst/>
          </a:prstGeom>
          <a:solidFill>
            <a:srgbClr val="E200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1298448"/>
            <a:ext cx="3749039" cy="502920"/>
          </a:xfrm>
          <a:prstGeom prst="rect">
            <a:avLst/>
          </a:prstGeom>
          <a:noFill/>
        </p:spPr>
        <p:txBody>
          <a:bodyPr wrap="square">
            <a:spAutoFit/>
          </a:bodyPr>
          <a:lstStyle/>
          <a:p>
            <a:pPr algn="ctr"/>
            <a:r>
              <a:rPr sz="1500" b="1">
                <a:solidFill>
                  <a:srgbClr val="FFFFFF"/>
                </a:solidFill>
                <a:latin typeface="Arial"/>
              </a:rPr>
              <a:t>Free Plan</a:t>
            </a:r>
          </a:p>
        </p:txBody>
      </p:sp>
      <p:sp>
        <p:nvSpPr>
          <p:cNvPr id="13" name="TextBox 12"/>
          <p:cNvSpPr txBox="1"/>
          <p:nvPr/>
        </p:nvSpPr>
        <p:spPr>
          <a:xfrm>
            <a:off x="320040" y="1764792"/>
            <a:ext cx="3749039" cy="438912"/>
          </a:xfrm>
          <a:prstGeom prst="rect">
            <a:avLst/>
          </a:prstGeom>
          <a:noFill/>
        </p:spPr>
        <p:txBody>
          <a:bodyPr wrap="square">
            <a:spAutoFit/>
          </a:bodyPr>
          <a:lstStyle/>
          <a:p>
            <a:pPr algn="ctr"/>
            <a:r>
              <a:rPr sz="1300" b="0">
                <a:solidFill>
                  <a:srgbClr val="FFFFFF"/>
                </a:solidFill>
                <a:latin typeface="Arial"/>
              </a:rPr>
              <a:t>0 THB / mo</a:t>
            </a:r>
          </a:p>
        </p:txBody>
      </p:sp>
      <p:sp>
        <p:nvSpPr>
          <p:cNvPr id="14" name="Rectangle 13"/>
          <p:cNvSpPr/>
          <p:nvPr/>
        </p:nvSpPr>
        <p:spPr>
          <a:xfrm>
            <a:off x="484632" y="2468879"/>
            <a:ext cx="137160" cy="256032"/>
          </a:xfrm>
          <a:prstGeom prst="rect">
            <a:avLst/>
          </a:prstGeom>
          <a:solidFill>
            <a:srgbClr val="E200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2423160"/>
            <a:ext cx="3200400" cy="384048"/>
          </a:xfrm>
          <a:prstGeom prst="rect">
            <a:avLst/>
          </a:prstGeom>
          <a:noFill/>
        </p:spPr>
        <p:txBody>
          <a:bodyPr wrap="square">
            <a:spAutoFit/>
          </a:bodyPr>
          <a:lstStyle/>
          <a:p>
            <a:pPr algn="l"/>
            <a:r>
              <a:rPr sz="1150" b="0">
                <a:solidFill>
                  <a:srgbClr val="4A4A4A"/>
                </a:solidFill>
                <a:latin typeface="Arial"/>
              </a:rPr>
              <a:t>500 messages/month</a:t>
            </a:r>
          </a:p>
        </p:txBody>
      </p:sp>
      <p:sp>
        <p:nvSpPr>
          <p:cNvPr id="16" name="Rectangle 15"/>
          <p:cNvSpPr/>
          <p:nvPr/>
        </p:nvSpPr>
        <p:spPr>
          <a:xfrm>
            <a:off x="484632" y="2944368"/>
            <a:ext cx="137160" cy="256032"/>
          </a:xfrm>
          <a:prstGeom prst="rect">
            <a:avLst/>
          </a:prstGeom>
          <a:solidFill>
            <a:srgbClr val="E200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2898648"/>
            <a:ext cx="3200400" cy="384048"/>
          </a:xfrm>
          <a:prstGeom prst="rect">
            <a:avLst/>
          </a:prstGeom>
          <a:noFill/>
        </p:spPr>
        <p:txBody>
          <a:bodyPr wrap="square">
            <a:spAutoFit/>
          </a:bodyPr>
          <a:lstStyle/>
          <a:p>
            <a:pPr algn="l"/>
            <a:r>
              <a:rPr sz="1150" b="0">
                <a:solidFill>
                  <a:srgbClr val="4A4A4A"/>
                </a:solidFill>
                <a:latin typeface="Arial"/>
              </a:rPr>
              <a:t>Basic chat features</a:t>
            </a:r>
          </a:p>
        </p:txBody>
      </p:sp>
      <p:sp>
        <p:nvSpPr>
          <p:cNvPr id="18" name="Rectangle 17"/>
          <p:cNvSpPr/>
          <p:nvPr/>
        </p:nvSpPr>
        <p:spPr>
          <a:xfrm>
            <a:off x="484632" y="3419856"/>
            <a:ext cx="137160" cy="256032"/>
          </a:xfrm>
          <a:prstGeom prst="rect">
            <a:avLst/>
          </a:prstGeom>
          <a:solidFill>
            <a:srgbClr val="E200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3374136"/>
            <a:ext cx="3200400" cy="384048"/>
          </a:xfrm>
          <a:prstGeom prst="rect">
            <a:avLst/>
          </a:prstGeom>
          <a:noFill/>
        </p:spPr>
        <p:txBody>
          <a:bodyPr wrap="square">
            <a:spAutoFit/>
          </a:bodyPr>
          <a:lstStyle/>
          <a:p>
            <a:pPr algn="l"/>
            <a:r>
              <a:rPr sz="1150" b="0">
                <a:solidFill>
                  <a:srgbClr val="4A4A4A"/>
                </a:solidFill>
                <a:latin typeface="Arial"/>
              </a:rPr>
              <a:t>1 linked account</a:t>
            </a:r>
          </a:p>
        </p:txBody>
      </p:sp>
      <p:sp>
        <p:nvSpPr>
          <p:cNvPr id="20" name="Rectangle 19"/>
          <p:cNvSpPr/>
          <p:nvPr/>
        </p:nvSpPr>
        <p:spPr>
          <a:xfrm>
            <a:off x="484632" y="3895344"/>
            <a:ext cx="137160" cy="256032"/>
          </a:xfrm>
          <a:prstGeom prst="rect">
            <a:avLst/>
          </a:prstGeom>
          <a:solidFill>
            <a:srgbClr val="E200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3849624"/>
            <a:ext cx="3200400" cy="384048"/>
          </a:xfrm>
          <a:prstGeom prst="rect">
            <a:avLst/>
          </a:prstGeom>
          <a:noFill/>
        </p:spPr>
        <p:txBody>
          <a:bodyPr wrap="square">
            <a:spAutoFit/>
          </a:bodyPr>
          <a:lstStyle/>
          <a:p>
            <a:pPr algn="l"/>
            <a:r>
              <a:rPr sz="1150" b="0">
                <a:solidFill>
                  <a:srgbClr val="4A4A4A"/>
                </a:solidFill>
                <a:latin typeface="Arial"/>
              </a:rPr>
              <a:t>Standard chat support</a:t>
            </a:r>
          </a:p>
        </p:txBody>
      </p:sp>
      <p:sp>
        <p:nvSpPr>
          <p:cNvPr id="22" name="Rectangle 21"/>
          <p:cNvSpPr/>
          <p:nvPr/>
        </p:nvSpPr>
        <p:spPr>
          <a:xfrm>
            <a:off x="4389120" y="1261872"/>
            <a:ext cx="3749039" cy="50292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389120" y="1261872"/>
            <a:ext cx="3749039" cy="1005840"/>
          </a:xfrm>
          <a:prstGeom prst="rect">
            <a:avLst/>
          </a:prstGeom>
          <a:solidFill>
            <a:srgbClr val="E200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389120" y="1298448"/>
            <a:ext cx="3749039" cy="502920"/>
          </a:xfrm>
          <a:prstGeom prst="rect">
            <a:avLst/>
          </a:prstGeom>
          <a:noFill/>
        </p:spPr>
        <p:txBody>
          <a:bodyPr wrap="square">
            <a:spAutoFit/>
          </a:bodyPr>
          <a:lstStyle/>
          <a:p>
            <a:pPr algn="ctr"/>
            <a:r>
              <a:rPr sz="1500" b="1">
                <a:solidFill>
                  <a:srgbClr val="FFFFFF"/>
                </a:solidFill>
                <a:latin typeface="Arial"/>
              </a:rPr>
              <a:t>Light Plan</a:t>
            </a:r>
          </a:p>
        </p:txBody>
      </p:sp>
      <p:sp>
        <p:nvSpPr>
          <p:cNvPr id="25" name="TextBox 24"/>
          <p:cNvSpPr txBox="1"/>
          <p:nvPr/>
        </p:nvSpPr>
        <p:spPr>
          <a:xfrm>
            <a:off x="4389120" y="1764792"/>
            <a:ext cx="3749039" cy="438912"/>
          </a:xfrm>
          <a:prstGeom prst="rect">
            <a:avLst/>
          </a:prstGeom>
          <a:noFill/>
        </p:spPr>
        <p:txBody>
          <a:bodyPr wrap="square">
            <a:spAutoFit/>
          </a:bodyPr>
          <a:lstStyle/>
          <a:p>
            <a:pPr algn="ctr"/>
            <a:r>
              <a:rPr sz="1300" b="0">
                <a:solidFill>
                  <a:srgbClr val="FFFFFF"/>
                </a:solidFill>
                <a:latin typeface="Arial"/>
              </a:rPr>
              <a:t>~1,200 THB / mo</a:t>
            </a:r>
          </a:p>
        </p:txBody>
      </p:sp>
      <p:sp>
        <p:nvSpPr>
          <p:cNvPr id="26" name="Rectangle 25"/>
          <p:cNvSpPr/>
          <p:nvPr/>
        </p:nvSpPr>
        <p:spPr>
          <a:xfrm>
            <a:off x="4553712" y="2468879"/>
            <a:ext cx="137160" cy="256032"/>
          </a:xfrm>
          <a:prstGeom prst="rect">
            <a:avLst/>
          </a:prstGeom>
          <a:solidFill>
            <a:srgbClr val="E200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00600" y="2423160"/>
            <a:ext cx="3200400" cy="384048"/>
          </a:xfrm>
          <a:prstGeom prst="rect">
            <a:avLst/>
          </a:prstGeom>
          <a:noFill/>
        </p:spPr>
        <p:txBody>
          <a:bodyPr wrap="square">
            <a:spAutoFit/>
          </a:bodyPr>
          <a:lstStyle/>
          <a:p>
            <a:pPr algn="l"/>
            <a:r>
              <a:rPr sz="1150" b="0">
                <a:solidFill>
                  <a:srgbClr val="4A4A4A"/>
                </a:solidFill>
                <a:latin typeface="Arial"/>
              </a:rPr>
              <a:t>15,000 messages/month</a:t>
            </a:r>
          </a:p>
        </p:txBody>
      </p:sp>
      <p:sp>
        <p:nvSpPr>
          <p:cNvPr id="28" name="Rectangle 27"/>
          <p:cNvSpPr/>
          <p:nvPr/>
        </p:nvSpPr>
        <p:spPr>
          <a:xfrm>
            <a:off x="4553712" y="2944368"/>
            <a:ext cx="137160" cy="256032"/>
          </a:xfrm>
          <a:prstGeom prst="rect">
            <a:avLst/>
          </a:prstGeom>
          <a:solidFill>
            <a:srgbClr val="E200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800600" y="2898648"/>
            <a:ext cx="3200400" cy="384048"/>
          </a:xfrm>
          <a:prstGeom prst="rect">
            <a:avLst/>
          </a:prstGeom>
          <a:noFill/>
        </p:spPr>
        <p:txBody>
          <a:bodyPr wrap="square">
            <a:spAutoFit/>
          </a:bodyPr>
          <a:lstStyle/>
          <a:p>
            <a:pPr algn="l"/>
            <a:r>
              <a:rPr sz="1150" b="0">
                <a:solidFill>
                  <a:srgbClr val="4A4A4A"/>
                </a:solidFill>
                <a:latin typeface="Arial"/>
              </a:rPr>
              <a:t>Rich Menu</a:t>
            </a:r>
          </a:p>
        </p:txBody>
      </p:sp>
      <p:sp>
        <p:nvSpPr>
          <p:cNvPr id="30" name="Rectangle 29"/>
          <p:cNvSpPr/>
          <p:nvPr/>
        </p:nvSpPr>
        <p:spPr>
          <a:xfrm>
            <a:off x="4553712" y="3419856"/>
            <a:ext cx="137160" cy="256032"/>
          </a:xfrm>
          <a:prstGeom prst="rect">
            <a:avLst/>
          </a:prstGeom>
          <a:solidFill>
            <a:srgbClr val="E200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800600" y="3374136"/>
            <a:ext cx="3200400" cy="384048"/>
          </a:xfrm>
          <a:prstGeom prst="rect">
            <a:avLst/>
          </a:prstGeom>
          <a:noFill/>
        </p:spPr>
        <p:txBody>
          <a:bodyPr wrap="square">
            <a:spAutoFit/>
          </a:bodyPr>
          <a:lstStyle/>
          <a:p>
            <a:pPr algn="l"/>
            <a:r>
              <a:rPr sz="1150" b="0">
                <a:solidFill>
                  <a:srgbClr val="4A4A4A"/>
                </a:solidFill>
                <a:latin typeface="Arial"/>
              </a:rPr>
              <a:t>Multi-admin access</a:t>
            </a:r>
          </a:p>
        </p:txBody>
      </p:sp>
      <p:sp>
        <p:nvSpPr>
          <p:cNvPr id="32" name="Rectangle 31"/>
          <p:cNvSpPr/>
          <p:nvPr/>
        </p:nvSpPr>
        <p:spPr>
          <a:xfrm>
            <a:off x="4553712" y="3895344"/>
            <a:ext cx="137160" cy="256032"/>
          </a:xfrm>
          <a:prstGeom prst="rect">
            <a:avLst/>
          </a:prstGeom>
          <a:solidFill>
            <a:srgbClr val="E200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800600" y="3849624"/>
            <a:ext cx="3200400" cy="384048"/>
          </a:xfrm>
          <a:prstGeom prst="rect">
            <a:avLst/>
          </a:prstGeom>
          <a:noFill/>
        </p:spPr>
        <p:txBody>
          <a:bodyPr wrap="square">
            <a:spAutoFit/>
          </a:bodyPr>
          <a:lstStyle/>
          <a:p>
            <a:pPr algn="l"/>
            <a:r>
              <a:rPr sz="1150" b="0">
                <a:solidFill>
                  <a:srgbClr val="4A4A4A"/>
                </a:solidFill>
                <a:latin typeface="Arial"/>
              </a:rPr>
              <a:t>Analytics dashboard</a:t>
            </a:r>
          </a:p>
        </p:txBody>
      </p:sp>
      <p:sp>
        <p:nvSpPr>
          <p:cNvPr id="34" name="Rectangle 33"/>
          <p:cNvSpPr/>
          <p:nvPr/>
        </p:nvSpPr>
        <p:spPr>
          <a:xfrm>
            <a:off x="8458200" y="1261872"/>
            <a:ext cx="3749039" cy="50292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458200" y="1261872"/>
            <a:ext cx="3749039" cy="1005840"/>
          </a:xfrm>
          <a:prstGeom prst="rect">
            <a:avLst/>
          </a:prstGeom>
          <a:solidFill>
            <a:srgbClr val="E200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458200" y="1298448"/>
            <a:ext cx="3749039" cy="502920"/>
          </a:xfrm>
          <a:prstGeom prst="rect">
            <a:avLst/>
          </a:prstGeom>
          <a:noFill/>
        </p:spPr>
        <p:txBody>
          <a:bodyPr wrap="square">
            <a:spAutoFit/>
          </a:bodyPr>
          <a:lstStyle/>
          <a:p>
            <a:pPr algn="ctr"/>
            <a:r>
              <a:rPr sz="1500" b="1">
                <a:solidFill>
                  <a:srgbClr val="FFFFFF"/>
                </a:solidFill>
                <a:latin typeface="Arial"/>
              </a:rPr>
              <a:t>Standard Plan</a:t>
            </a:r>
          </a:p>
        </p:txBody>
      </p:sp>
      <p:sp>
        <p:nvSpPr>
          <p:cNvPr id="37" name="TextBox 36"/>
          <p:cNvSpPr txBox="1"/>
          <p:nvPr/>
        </p:nvSpPr>
        <p:spPr>
          <a:xfrm>
            <a:off x="8458200" y="1764792"/>
            <a:ext cx="3749039" cy="438912"/>
          </a:xfrm>
          <a:prstGeom prst="rect">
            <a:avLst/>
          </a:prstGeom>
          <a:noFill/>
        </p:spPr>
        <p:txBody>
          <a:bodyPr wrap="square">
            <a:spAutoFit/>
          </a:bodyPr>
          <a:lstStyle/>
          <a:p>
            <a:pPr algn="ctr"/>
            <a:r>
              <a:rPr sz="1300" b="0">
                <a:solidFill>
                  <a:srgbClr val="FFFFFF"/>
                </a:solidFill>
                <a:latin typeface="Arial"/>
              </a:rPr>
              <a:t>~3,900 THB / mo</a:t>
            </a:r>
          </a:p>
        </p:txBody>
      </p:sp>
      <p:sp>
        <p:nvSpPr>
          <p:cNvPr id="38" name="Rectangle 37"/>
          <p:cNvSpPr/>
          <p:nvPr/>
        </p:nvSpPr>
        <p:spPr>
          <a:xfrm>
            <a:off x="8622792" y="2468879"/>
            <a:ext cx="137160" cy="256032"/>
          </a:xfrm>
          <a:prstGeom prst="rect">
            <a:avLst/>
          </a:prstGeom>
          <a:solidFill>
            <a:srgbClr val="E200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869680" y="2423160"/>
            <a:ext cx="3200400" cy="384048"/>
          </a:xfrm>
          <a:prstGeom prst="rect">
            <a:avLst/>
          </a:prstGeom>
          <a:noFill/>
        </p:spPr>
        <p:txBody>
          <a:bodyPr wrap="square">
            <a:spAutoFit/>
          </a:bodyPr>
          <a:lstStyle/>
          <a:p>
            <a:pPr algn="l"/>
            <a:r>
              <a:rPr sz="1150" b="0">
                <a:solidFill>
                  <a:srgbClr val="4A4A4A"/>
                </a:solidFill>
                <a:latin typeface="Arial"/>
              </a:rPr>
              <a:t>45,000 messages/month</a:t>
            </a:r>
          </a:p>
        </p:txBody>
      </p:sp>
      <p:sp>
        <p:nvSpPr>
          <p:cNvPr id="40" name="Rectangle 39"/>
          <p:cNvSpPr/>
          <p:nvPr/>
        </p:nvSpPr>
        <p:spPr>
          <a:xfrm>
            <a:off x="8622792" y="2944368"/>
            <a:ext cx="137160" cy="256032"/>
          </a:xfrm>
          <a:prstGeom prst="rect">
            <a:avLst/>
          </a:prstGeom>
          <a:solidFill>
            <a:srgbClr val="E200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869680" y="2898648"/>
            <a:ext cx="3200400" cy="384048"/>
          </a:xfrm>
          <a:prstGeom prst="rect">
            <a:avLst/>
          </a:prstGeom>
          <a:noFill/>
        </p:spPr>
        <p:txBody>
          <a:bodyPr wrap="square">
            <a:spAutoFit/>
          </a:bodyPr>
          <a:lstStyle/>
          <a:p>
            <a:pPr algn="l"/>
            <a:r>
              <a:rPr sz="1150" b="0">
                <a:solidFill>
                  <a:srgbClr val="4A4A4A"/>
                </a:solidFill>
                <a:latin typeface="Arial"/>
              </a:rPr>
              <a:t>All advanced features</a:t>
            </a:r>
          </a:p>
        </p:txBody>
      </p:sp>
      <p:sp>
        <p:nvSpPr>
          <p:cNvPr id="42" name="Rectangle 41"/>
          <p:cNvSpPr/>
          <p:nvPr/>
        </p:nvSpPr>
        <p:spPr>
          <a:xfrm>
            <a:off x="8622792" y="3419856"/>
            <a:ext cx="137160" cy="256032"/>
          </a:xfrm>
          <a:prstGeom prst="rect">
            <a:avLst/>
          </a:prstGeom>
          <a:solidFill>
            <a:srgbClr val="E200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869680" y="3374136"/>
            <a:ext cx="3200400" cy="384048"/>
          </a:xfrm>
          <a:prstGeom prst="rect">
            <a:avLst/>
          </a:prstGeom>
          <a:noFill/>
        </p:spPr>
        <p:txBody>
          <a:bodyPr wrap="square">
            <a:spAutoFit/>
          </a:bodyPr>
          <a:lstStyle/>
          <a:p>
            <a:pPr algn="l"/>
            <a:r>
              <a:rPr sz="1150" b="0">
                <a:solidFill>
                  <a:srgbClr val="4A4A4A"/>
                </a:solidFill>
                <a:latin typeface="Arial"/>
              </a:rPr>
              <a:t>Full API access</a:t>
            </a:r>
          </a:p>
        </p:txBody>
      </p:sp>
      <p:sp>
        <p:nvSpPr>
          <p:cNvPr id="44" name="Rectangle 43"/>
          <p:cNvSpPr/>
          <p:nvPr/>
        </p:nvSpPr>
        <p:spPr>
          <a:xfrm>
            <a:off x="8622792" y="3895344"/>
            <a:ext cx="137160" cy="256032"/>
          </a:xfrm>
          <a:prstGeom prst="rect">
            <a:avLst/>
          </a:prstGeom>
          <a:solidFill>
            <a:srgbClr val="E200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869680" y="3849624"/>
            <a:ext cx="3200400" cy="384048"/>
          </a:xfrm>
          <a:prstGeom prst="rect">
            <a:avLst/>
          </a:prstGeom>
          <a:noFill/>
        </p:spPr>
        <p:txBody>
          <a:bodyPr wrap="square">
            <a:spAutoFit/>
          </a:bodyPr>
          <a:lstStyle/>
          <a:p>
            <a:pPr algn="l"/>
            <a:r>
              <a:rPr sz="1150" b="0">
                <a:solidFill>
                  <a:srgbClr val="4A4A4A"/>
                </a:solidFill>
                <a:latin typeface="Arial"/>
              </a:rPr>
              <a:t>Priority support</a:t>
            </a:r>
          </a:p>
        </p:txBody>
      </p:sp>
      <p:sp>
        <p:nvSpPr>
          <p:cNvPr id="46" name="TextBox 45"/>
          <p:cNvSpPr txBox="1"/>
          <p:nvPr/>
        </p:nvSpPr>
        <p:spPr>
          <a:xfrm>
            <a:off x="365760" y="6400800"/>
            <a:ext cx="11430000" cy="320040"/>
          </a:xfrm>
          <a:prstGeom prst="rect">
            <a:avLst/>
          </a:prstGeom>
          <a:noFill/>
        </p:spPr>
        <p:txBody>
          <a:bodyPr wrap="square">
            <a:spAutoFit/>
          </a:bodyPr>
          <a:lstStyle/>
          <a:p>
            <a:pPr algn="l"/>
            <a:r>
              <a:rPr sz="900" b="0">
                <a:solidFill>
                  <a:srgbClr val="767676"/>
                </a:solidFill>
                <a:latin typeface="Arial"/>
              </a:rPr>
              <a:t>* Pricing may vary. Please visit line.biz for the latest rates.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E200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0"/>
            <a:ext cx="12024360" cy="100584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 y="1005840"/>
            <a:ext cx="12024360" cy="54864"/>
          </a:xfrm>
          <a:prstGeom prst="rect">
            <a:avLst/>
          </a:prstGeom>
          <a:solidFill>
            <a:srgbClr val="E200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789920" y="146304"/>
            <a:ext cx="713232" cy="713232"/>
          </a:xfrm>
          <a:prstGeom prst="rect">
            <a:avLst/>
          </a:prstGeom>
          <a:solidFill>
            <a:srgbClr val="E200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744200" y="182880"/>
            <a:ext cx="822960" cy="548640"/>
          </a:xfrm>
          <a:prstGeom prst="rect">
            <a:avLst/>
          </a:prstGeom>
          <a:noFill/>
        </p:spPr>
        <p:txBody>
          <a:bodyPr wrap="square">
            <a:spAutoFit/>
          </a:bodyPr>
          <a:lstStyle/>
          <a:p>
            <a:pPr algn="ctr"/>
            <a:r>
              <a:rPr sz="700" b="1">
                <a:solidFill>
                  <a:srgbClr val="FFFFFF"/>
                </a:solidFill>
                <a:latin typeface="Arial"/>
              </a:rPr>
              <a:t>BOSCH</a:t>
            </a:r>
          </a:p>
        </p:txBody>
      </p:sp>
      <p:sp>
        <p:nvSpPr>
          <p:cNvPr id="7" name="TextBox 6"/>
          <p:cNvSpPr txBox="1"/>
          <p:nvPr/>
        </p:nvSpPr>
        <p:spPr>
          <a:xfrm>
            <a:off x="457200" y="164592"/>
            <a:ext cx="10058400" cy="685800"/>
          </a:xfrm>
          <a:prstGeom prst="rect">
            <a:avLst/>
          </a:prstGeom>
          <a:noFill/>
        </p:spPr>
        <p:txBody>
          <a:bodyPr wrap="square">
            <a:spAutoFit/>
          </a:bodyPr>
          <a:lstStyle/>
          <a:p>
            <a:pPr algn="l"/>
            <a:r>
              <a:rPr sz="2400" b="1">
                <a:solidFill>
                  <a:srgbClr val="FFFFFF"/>
                </a:solidFill>
                <a:latin typeface="Arial"/>
              </a:rPr>
              <a:t>Why Choose LINE OA?</a:t>
            </a:r>
          </a:p>
        </p:txBody>
      </p:sp>
      <p:sp>
        <p:nvSpPr>
          <p:cNvPr id="8" name="Rectangle 7"/>
          <p:cNvSpPr/>
          <p:nvPr/>
        </p:nvSpPr>
        <p:spPr>
          <a:xfrm>
            <a:off x="320040" y="1289304"/>
            <a:ext cx="347472" cy="347472"/>
          </a:xfrm>
          <a:prstGeom prst="rect">
            <a:avLst/>
          </a:prstGeom>
          <a:solidFill>
            <a:srgbClr val="E200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 y="1298448"/>
            <a:ext cx="347472" cy="320040"/>
          </a:xfrm>
          <a:prstGeom prst="rect">
            <a:avLst/>
          </a:prstGeom>
          <a:noFill/>
        </p:spPr>
        <p:txBody>
          <a:bodyPr wrap="square">
            <a:spAutoFit/>
          </a:bodyPr>
          <a:lstStyle/>
          <a:p>
            <a:pPr algn="ctr"/>
            <a:r>
              <a:rPr sz="1200" b="1">
                <a:solidFill>
                  <a:srgbClr val="FFFFFF"/>
                </a:solidFill>
                <a:latin typeface="Arial"/>
              </a:rPr>
              <a:t>1</a:t>
            </a:r>
          </a:p>
        </p:txBody>
      </p:sp>
      <p:sp>
        <p:nvSpPr>
          <p:cNvPr id="10" name="TextBox 9"/>
          <p:cNvSpPr txBox="1"/>
          <p:nvPr/>
        </p:nvSpPr>
        <p:spPr>
          <a:xfrm>
            <a:off x="822960" y="1280160"/>
            <a:ext cx="10972800" cy="411480"/>
          </a:xfrm>
          <a:prstGeom prst="rect">
            <a:avLst/>
          </a:prstGeom>
          <a:noFill/>
        </p:spPr>
        <p:txBody>
          <a:bodyPr wrap="square">
            <a:spAutoFit/>
          </a:bodyPr>
          <a:lstStyle/>
          <a:p>
            <a:pPr algn="l"/>
            <a:r>
              <a:rPr sz="1400" b="0">
                <a:solidFill>
                  <a:srgbClr val="1A1A1A"/>
                </a:solidFill>
                <a:latin typeface="Arial"/>
              </a:rPr>
              <a:t>Reach Thailand's #1 messaging platform with 90M+ users</a:t>
            </a:r>
          </a:p>
        </p:txBody>
      </p:sp>
      <p:sp>
        <p:nvSpPr>
          <p:cNvPr id="11" name="Rectangle 10"/>
          <p:cNvSpPr/>
          <p:nvPr/>
        </p:nvSpPr>
        <p:spPr>
          <a:xfrm>
            <a:off x="320040" y="1709928"/>
            <a:ext cx="11567160" cy="27432"/>
          </a:xfrm>
          <a:prstGeom prst="rect">
            <a:avLst/>
          </a:prstGeom>
          <a:solidFill>
            <a:srgbClr val="E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20040" y="1975104"/>
            <a:ext cx="347472" cy="347472"/>
          </a:xfrm>
          <a:prstGeom prst="rect">
            <a:avLst/>
          </a:prstGeom>
          <a:solidFill>
            <a:srgbClr val="E200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1984248"/>
            <a:ext cx="347472" cy="320040"/>
          </a:xfrm>
          <a:prstGeom prst="rect">
            <a:avLst/>
          </a:prstGeom>
          <a:noFill/>
        </p:spPr>
        <p:txBody>
          <a:bodyPr wrap="square">
            <a:spAutoFit/>
          </a:bodyPr>
          <a:lstStyle/>
          <a:p>
            <a:pPr algn="ctr"/>
            <a:r>
              <a:rPr sz="1200" b="1">
                <a:solidFill>
                  <a:srgbClr val="FFFFFF"/>
                </a:solidFill>
                <a:latin typeface="Arial"/>
              </a:rPr>
              <a:t>2</a:t>
            </a:r>
          </a:p>
        </p:txBody>
      </p:sp>
      <p:sp>
        <p:nvSpPr>
          <p:cNvPr id="14" name="TextBox 13"/>
          <p:cNvSpPr txBox="1"/>
          <p:nvPr/>
        </p:nvSpPr>
        <p:spPr>
          <a:xfrm>
            <a:off x="822960" y="1965960"/>
            <a:ext cx="10972800" cy="411480"/>
          </a:xfrm>
          <a:prstGeom prst="rect">
            <a:avLst/>
          </a:prstGeom>
          <a:noFill/>
        </p:spPr>
        <p:txBody>
          <a:bodyPr wrap="square">
            <a:spAutoFit/>
          </a:bodyPr>
          <a:lstStyle/>
          <a:p>
            <a:pPr algn="l"/>
            <a:r>
              <a:rPr sz="1400" b="0">
                <a:solidFill>
                  <a:srgbClr val="1A1A1A"/>
                </a:solidFill>
                <a:latin typeface="Arial"/>
              </a:rPr>
              <a:t>Drive sales with coupons, rewards, and in-chat shopping</a:t>
            </a:r>
          </a:p>
        </p:txBody>
      </p:sp>
      <p:sp>
        <p:nvSpPr>
          <p:cNvPr id="15" name="Rectangle 14"/>
          <p:cNvSpPr/>
          <p:nvPr/>
        </p:nvSpPr>
        <p:spPr>
          <a:xfrm>
            <a:off x="320040" y="2395728"/>
            <a:ext cx="11567160" cy="27432"/>
          </a:xfrm>
          <a:prstGeom prst="rect">
            <a:avLst/>
          </a:prstGeom>
          <a:solidFill>
            <a:srgbClr val="E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0040" y="2660904"/>
            <a:ext cx="347472" cy="347472"/>
          </a:xfrm>
          <a:prstGeom prst="rect">
            <a:avLst/>
          </a:prstGeom>
          <a:solidFill>
            <a:srgbClr val="E200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2670048"/>
            <a:ext cx="347472" cy="320040"/>
          </a:xfrm>
          <a:prstGeom prst="rect">
            <a:avLst/>
          </a:prstGeom>
          <a:noFill/>
        </p:spPr>
        <p:txBody>
          <a:bodyPr wrap="square">
            <a:spAutoFit/>
          </a:bodyPr>
          <a:lstStyle/>
          <a:p>
            <a:pPr algn="ctr"/>
            <a:r>
              <a:rPr sz="1200" b="1">
                <a:solidFill>
                  <a:srgbClr val="FFFFFF"/>
                </a:solidFill>
                <a:latin typeface="Arial"/>
              </a:rPr>
              <a:t>3</a:t>
            </a:r>
          </a:p>
        </p:txBody>
      </p:sp>
      <p:sp>
        <p:nvSpPr>
          <p:cNvPr id="18" name="TextBox 17"/>
          <p:cNvSpPr txBox="1"/>
          <p:nvPr/>
        </p:nvSpPr>
        <p:spPr>
          <a:xfrm>
            <a:off x="822960" y="2651760"/>
            <a:ext cx="10972800" cy="411480"/>
          </a:xfrm>
          <a:prstGeom prst="rect">
            <a:avLst/>
          </a:prstGeom>
          <a:noFill/>
        </p:spPr>
        <p:txBody>
          <a:bodyPr wrap="square">
            <a:spAutoFit/>
          </a:bodyPr>
          <a:lstStyle/>
          <a:p>
            <a:pPr algn="l"/>
            <a:r>
              <a:rPr sz="1400" b="0">
                <a:solidFill>
                  <a:srgbClr val="1A1A1A"/>
                </a:solidFill>
                <a:latin typeface="Arial"/>
              </a:rPr>
              <a:t>Automate customer support with chatbots and 24/7 auto-replies</a:t>
            </a:r>
          </a:p>
        </p:txBody>
      </p:sp>
      <p:sp>
        <p:nvSpPr>
          <p:cNvPr id="19" name="Rectangle 18"/>
          <p:cNvSpPr/>
          <p:nvPr/>
        </p:nvSpPr>
        <p:spPr>
          <a:xfrm>
            <a:off x="320040" y="3081528"/>
            <a:ext cx="11567160" cy="27432"/>
          </a:xfrm>
          <a:prstGeom prst="rect">
            <a:avLst/>
          </a:prstGeom>
          <a:solidFill>
            <a:srgbClr val="E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20040" y="3346704"/>
            <a:ext cx="347472" cy="347472"/>
          </a:xfrm>
          <a:prstGeom prst="rect">
            <a:avLst/>
          </a:prstGeom>
          <a:solidFill>
            <a:srgbClr val="E200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0040" y="3355848"/>
            <a:ext cx="347472" cy="320040"/>
          </a:xfrm>
          <a:prstGeom prst="rect">
            <a:avLst/>
          </a:prstGeom>
          <a:noFill/>
        </p:spPr>
        <p:txBody>
          <a:bodyPr wrap="square">
            <a:spAutoFit/>
          </a:bodyPr>
          <a:lstStyle/>
          <a:p>
            <a:pPr algn="ctr"/>
            <a:r>
              <a:rPr sz="1200" b="1">
                <a:solidFill>
                  <a:srgbClr val="FFFFFF"/>
                </a:solidFill>
                <a:latin typeface="Arial"/>
              </a:rPr>
              <a:t>4</a:t>
            </a:r>
          </a:p>
        </p:txBody>
      </p:sp>
      <p:sp>
        <p:nvSpPr>
          <p:cNvPr id="22" name="TextBox 21"/>
          <p:cNvSpPr txBox="1"/>
          <p:nvPr/>
        </p:nvSpPr>
        <p:spPr>
          <a:xfrm>
            <a:off x="822960" y="3337560"/>
            <a:ext cx="10972800" cy="411480"/>
          </a:xfrm>
          <a:prstGeom prst="rect">
            <a:avLst/>
          </a:prstGeom>
          <a:noFill/>
        </p:spPr>
        <p:txBody>
          <a:bodyPr wrap="square">
            <a:spAutoFit/>
          </a:bodyPr>
          <a:lstStyle/>
          <a:p>
            <a:pPr algn="l"/>
            <a:r>
              <a:rPr sz="1400" b="0">
                <a:solidFill>
                  <a:srgbClr val="1A1A1A"/>
                </a:solidFill>
                <a:latin typeface="Arial"/>
              </a:rPr>
              <a:t>Gain real-time insights with powerful analytics and reporting tools</a:t>
            </a:r>
          </a:p>
        </p:txBody>
      </p:sp>
      <p:sp>
        <p:nvSpPr>
          <p:cNvPr id="23" name="Rectangle 22"/>
          <p:cNvSpPr/>
          <p:nvPr/>
        </p:nvSpPr>
        <p:spPr>
          <a:xfrm>
            <a:off x="320040" y="3767328"/>
            <a:ext cx="11567160" cy="27432"/>
          </a:xfrm>
          <a:prstGeom prst="rect">
            <a:avLst/>
          </a:prstGeom>
          <a:solidFill>
            <a:srgbClr val="E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20040" y="4032503"/>
            <a:ext cx="347472" cy="347472"/>
          </a:xfrm>
          <a:prstGeom prst="rect">
            <a:avLst/>
          </a:prstGeom>
          <a:solidFill>
            <a:srgbClr val="E200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0040" y="4041648"/>
            <a:ext cx="347472" cy="320040"/>
          </a:xfrm>
          <a:prstGeom prst="rect">
            <a:avLst/>
          </a:prstGeom>
          <a:noFill/>
        </p:spPr>
        <p:txBody>
          <a:bodyPr wrap="square">
            <a:spAutoFit/>
          </a:bodyPr>
          <a:lstStyle/>
          <a:p>
            <a:pPr algn="ctr"/>
            <a:r>
              <a:rPr sz="1200" b="1">
                <a:solidFill>
                  <a:srgbClr val="FFFFFF"/>
                </a:solidFill>
                <a:latin typeface="Arial"/>
              </a:rPr>
              <a:t>5</a:t>
            </a:r>
          </a:p>
        </p:txBody>
      </p:sp>
      <p:sp>
        <p:nvSpPr>
          <p:cNvPr id="26" name="TextBox 25"/>
          <p:cNvSpPr txBox="1"/>
          <p:nvPr/>
        </p:nvSpPr>
        <p:spPr>
          <a:xfrm>
            <a:off x="822960" y="4023359"/>
            <a:ext cx="10972800" cy="411480"/>
          </a:xfrm>
          <a:prstGeom prst="rect">
            <a:avLst/>
          </a:prstGeom>
          <a:noFill/>
        </p:spPr>
        <p:txBody>
          <a:bodyPr wrap="square">
            <a:spAutoFit/>
          </a:bodyPr>
          <a:lstStyle/>
          <a:p>
            <a:pPr algn="l"/>
            <a:r>
              <a:rPr sz="1400" b="0">
                <a:solidFill>
                  <a:srgbClr val="1A1A1A"/>
                </a:solidFill>
                <a:latin typeface="Arial"/>
              </a:rPr>
              <a:t>Integrate seamlessly with your existing CRM and business systems</a:t>
            </a:r>
          </a:p>
        </p:txBody>
      </p:sp>
      <p:sp>
        <p:nvSpPr>
          <p:cNvPr id="27" name="Rectangle 26"/>
          <p:cNvSpPr/>
          <p:nvPr/>
        </p:nvSpPr>
        <p:spPr>
          <a:xfrm>
            <a:off x="320040" y="4453127"/>
            <a:ext cx="11567160" cy="27432"/>
          </a:xfrm>
          <a:prstGeom prst="rect">
            <a:avLst/>
          </a:prstGeom>
          <a:solidFill>
            <a:srgbClr val="E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20040" y="5074920"/>
            <a:ext cx="11567160" cy="1005840"/>
          </a:xfrm>
          <a:prstGeom prst="rect">
            <a:avLst/>
          </a:prstGeom>
          <a:solidFill>
            <a:srgbClr val="E200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7200" y="5138928"/>
            <a:ext cx="11274552" cy="502920"/>
          </a:xfrm>
          <a:prstGeom prst="rect">
            <a:avLst/>
          </a:prstGeom>
          <a:noFill/>
        </p:spPr>
        <p:txBody>
          <a:bodyPr wrap="square">
            <a:spAutoFit/>
          </a:bodyPr>
          <a:lstStyle/>
          <a:p>
            <a:pPr algn="ctr"/>
            <a:r>
              <a:rPr sz="2200" b="1">
                <a:solidFill>
                  <a:srgbClr val="FFFFFF"/>
                </a:solidFill>
                <a:latin typeface="Arial"/>
              </a:rPr>
              <a:t>Get Started Today</a:t>
            </a:r>
          </a:p>
        </p:txBody>
      </p:sp>
      <p:sp>
        <p:nvSpPr>
          <p:cNvPr id="30" name="TextBox 29"/>
          <p:cNvSpPr txBox="1"/>
          <p:nvPr/>
        </p:nvSpPr>
        <p:spPr>
          <a:xfrm>
            <a:off x="457200" y="5577840"/>
            <a:ext cx="11274552" cy="411480"/>
          </a:xfrm>
          <a:prstGeom prst="rect">
            <a:avLst/>
          </a:prstGeom>
          <a:noFill/>
        </p:spPr>
        <p:txBody>
          <a:bodyPr wrap="square">
            <a:spAutoFit/>
          </a:bodyPr>
          <a:lstStyle/>
          <a:p>
            <a:pPr algn="ctr"/>
            <a:r>
              <a:rPr sz="1200" b="0">
                <a:solidFill>
                  <a:srgbClr val="FFFFFF"/>
                </a:solidFill>
                <a:latin typeface="Arial"/>
              </a:rPr>
              <a:t>line.biz  |  Contact WhiteWings for LINE OA setup and integration</a:t>
            </a:r>
          </a:p>
        </p:txBody>
      </p:sp>
      <p:sp>
        <p:nvSpPr>
          <p:cNvPr id="31" name="Rectangle 30"/>
          <p:cNvSpPr/>
          <p:nvPr/>
        </p:nvSpPr>
        <p:spPr>
          <a:xfrm>
            <a:off x="164592" y="6492240"/>
            <a:ext cx="12024360" cy="36576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65760" y="6510528"/>
            <a:ext cx="11612880" cy="274320"/>
          </a:xfrm>
          <a:prstGeom prst="rect">
            <a:avLst/>
          </a:prstGeom>
          <a:noFill/>
        </p:spPr>
        <p:txBody>
          <a:bodyPr wrap="square">
            <a:spAutoFit/>
          </a:bodyPr>
          <a:lstStyle/>
          <a:p>
            <a:pPr algn="l"/>
            <a:r>
              <a:rPr sz="900" b="0">
                <a:solidFill>
                  <a:srgbClr val="767676"/>
                </a:solidFill>
                <a:latin typeface="Arial"/>
              </a:rPr>
              <a:t>WhiteWings  |  LINE OA Solutions  |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